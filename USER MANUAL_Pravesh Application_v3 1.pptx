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91" r:id="rId4"/>
    <p:sldId id="272" r:id="rId5"/>
    <p:sldId id="292" r:id="rId6"/>
    <p:sldId id="273" r:id="rId7"/>
    <p:sldId id="293" r:id="rId8"/>
    <p:sldId id="287" r:id="rId9"/>
    <p:sldId id="294" r:id="rId10"/>
    <p:sldId id="274" r:id="rId11"/>
    <p:sldId id="297" r:id="rId12"/>
    <p:sldId id="284" r:id="rId13"/>
    <p:sldId id="296" r:id="rId14"/>
    <p:sldId id="268" r:id="rId15"/>
    <p:sldId id="295" r:id="rId16"/>
    <p:sldId id="286" r:id="rId17"/>
    <p:sldId id="299" r:id="rId18"/>
    <p:sldId id="290" r:id="rId19"/>
    <p:sldId id="298" r:id="rId20"/>
    <p:sldId id="267"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714" autoAdjust="0"/>
    <p:restoredTop sz="94660"/>
  </p:normalViewPr>
  <p:slideViewPr>
    <p:cSldViewPr snapToGrid="0">
      <p:cViewPr varScale="1">
        <p:scale>
          <a:sx n="69" d="100"/>
          <a:sy n="69" d="100"/>
        </p:scale>
        <p:origin x="87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C2FF89-7E06-E189-67BB-69F4BD1514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9E841B6-E9D1-C1E0-1115-5792E69AC87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0EA7937-E8F0-58A9-5F55-3113D4BEE7F2}"/>
              </a:ext>
            </a:extLst>
          </p:cNvPr>
          <p:cNvSpPr>
            <a:spLocks noGrp="1"/>
          </p:cNvSpPr>
          <p:nvPr>
            <p:ph type="dt" sz="half" idx="10"/>
          </p:nvPr>
        </p:nvSpPr>
        <p:spPr/>
        <p:txBody>
          <a:bodyPr/>
          <a:lstStyle/>
          <a:p>
            <a:fld id="{D93E8A5D-3705-477A-BBB1-3F074CB9B85E}" type="datetimeFigureOut">
              <a:rPr lang="en-US" smtClean="0"/>
              <a:t>11/20/2025</a:t>
            </a:fld>
            <a:endParaRPr lang="en-US"/>
          </a:p>
        </p:txBody>
      </p:sp>
      <p:sp>
        <p:nvSpPr>
          <p:cNvPr id="5" name="Footer Placeholder 4">
            <a:extLst>
              <a:ext uri="{FF2B5EF4-FFF2-40B4-BE49-F238E27FC236}">
                <a16:creationId xmlns:a16="http://schemas.microsoft.com/office/drawing/2014/main" id="{2447DB49-9C27-63A8-9530-B1B1EE1F0D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EA1E1C-38E7-D1E8-1070-5FEE34614C14}"/>
              </a:ext>
            </a:extLst>
          </p:cNvPr>
          <p:cNvSpPr>
            <a:spLocks noGrp="1"/>
          </p:cNvSpPr>
          <p:nvPr>
            <p:ph type="sldNum" sz="quarter" idx="12"/>
          </p:nvPr>
        </p:nvSpPr>
        <p:spPr/>
        <p:txBody>
          <a:bodyPr/>
          <a:lstStyle/>
          <a:p>
            <a:fld id="{B476D956-CF92-4496-971F-C28D9A698D5B}" type="slidenum">
              <a:rPr lang="en-US" smtClean="0"/>
              <a:t>‹#›</a:t>
            </a:fld>
            <a:endParaRPr lang="en-US"/>
          </a:p>
        </p:txBody>
      </p:sp>
    </p:spTree>
    <p:extLst>
      <p:ext uri="{BB962C8B-B14F-4D97-AF65-F5344CB8AC3E}">
        <p14:creationId xmlns:p14="http://schemas.microsoft.com/office/powerpoint/2010/main" val="2606287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006CC-6EF5-987C-6A82-081FBE012929}"/>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57538EEE-4BC4-03B4-54CE-76A864E26637}"/>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7C84417-E1BC-1D67-C711-82ECA717C109}"/>
              </a:ext>
            </a:extLst>
          </p:cNvPr>
          <p:cNvSpPr>
            <a:spLocks noGrp="1"/>
          </p:cNvSpPr>
          <p:nvPr>
            <p:ph type="dt" sz="half" idx="10"/>
          </p:nvPr>
        </p:nvSpPr>
        <p:spPr/>
        <p:txBody>
          <a:bodyPr/>
          <a:lstStyle/>
          <a:p>
            <a:fld id="{D93E8A5D-3705-477A-BBB1-3F074CB9B85E}" type="datetimeFigureOut">
              <a:rPr lang="en-US" smtClean="0"/>
              <a:t>11/20/2025</a:t>
            </a:fld>
            <a:endParaRPr lang="en-US"/>
          </a:p>
        </p:txBody>
      </p:sp>
      <p:sp>
        <p:nvSpPr>
          <p:cNvPr id="5" name="Footer Placeholder 4">
            <a:extLst>
              <a:ext uri="{FF2B5EF4-FFF2-40B4-BE49-F238E27FC236}">
                <a16:creationId xmlns:a16="http://schemas.microsoft.com/office/drawing/2014/main" id="{BFA68609-D908-A24E-64ED-ED77328C51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D294533-4816-0712-F53E-41E5C9CF213B}"/>
              </a:ext>
            </a:extLst>
          </p:cNvPr>
          <p:cNvSpPr>
            <a:spLocks noGrp="1"/>
          </p:cNvSpPr>
          <p:nvPr>
            <p:ph type="sldNum" sz="quarter" idx="12"/>
          </p:nvPr>
        </p:nvSpPr>
        <p:spPr/>
        <p:txBody>
          <a:bodyPr/>
          <a:lstStyle/>
          <a:p>
            <a:fld id="{B476D956-CF92-4496-971F-C28D9A698D5B}" type="slidenum">
              <a:rPr lang="en-US" smtClean="0"/>
              <a:t>‹#›</a:t>
            </a:fld>
            <a:endParaRPr lang="en-US"/>
          </a:p>
        </p:txBody>
      </p:sp>
    </p:spTree>
    <p:extLst>
      <p:ext uri="{BB962C8B-B14F-4D97-AF65-F5344CB8AC3E}">
        <p14:creationId xmlns:p14="http://schemas.microsoft.com/office/powerpoint/2010/main" val="3560217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E94A6-398D-578F-3FD2-46DCA3B782B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CE81328-F5B5-7FBF-C92D-DA728B63CDA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D70DA74-FDF1-0850-514E-A07C50AF8D30}"/>
              </a:ext>
            </a:extLst>
          </p:cNvPr>
          <p:cNvSpPr>
            <a:spLocks noGrp="1"/>
          </p:cNvSpPr>
          <p:nvPr>
            <p:ph type="dt" sz="half" idx="10"/>
          </p:nvPr>
        </p:nvSpPr>
        <p:spPr/>
        <p:txBody>
          <a:bodyPr/>
          <a:lstStyle/>
          <a:p>
            <a:fld id="{D93E8A5D-3705-477A-BBB1-3F074CB9B85E}" type="datetimeFigureOut">
              <a:rPr lang="en-US" smtClean="0"/>
              <a:t>11/20/2025</a:t>
            </a:fld>
            <a:endParaRPr lang="en-US"/>
          </a:p>
        </p:txBody>
      </p:sp>
      <p:sp>
        <p:nvSpPr>
          <p:cNvPr id="5" name="Footer Placeholder 4">
            <a:extLst>
              <a:ext uri="{FF2B5EF4-FFF2-40B4-BE49-F238E27FC236}">
                <a16:creationId xmlns:a16="http://schemas.microsoft.com/office/drawing/2014/main" id="{D04FA942-3B0E-43D1-BA1B-9D0BF78101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5529A5D-5B32-62DF-495F-3DA3584C85BD}"/>
              </a:ext>
            </a:extLst>
          </p:cNvPr>
          <p:cNvSpPr>
            <a:spLocks noGrp="1"/>
          </p:cNvSpPr>
          <p:nvPr>
            <p:ph type="sldNum" sz="quarter" idx="12"/>
          </p:nvPr>
        </p:nvSpPr>
        <p:spPr/>
        <p:txBody>
          <a:bodyPr/>
          <a:lstStyle/>
          <a:p>
            <a:fld id="{B476D956-CF92-4496-971F-C28D9A698D5B}" type="slidenum">
              <a:rPr lang="en-US" smtClean="0"/>
              <a:t>‹#›</a:t>
            </a:fld>
            <a:endParaRPr lang="en-US"/>
          </a:p>
        </p:txBody>
      </p:sp>
    </p:spTree>
    <p:extLst>
      <p:ext uri="{BB962C8B-B14F-4D97-AF65-F5344CB8AC3E}">
        <p14:creationId xmlns:p14="http://schemas.microsoft.com/office/powerpoint/2010/main" val="3271672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26A78-5FE7-B3B7-B2F0-E439B5AF1D4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B6D928B-0AD7-8B72-70A2-E637CD65088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6E98D9-393A-3D4C-E23A-C8675122B41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DF5D9FF-0424-A441-A66E-F6304A45D2C3}"/>
              </a:ext>
            </a:extLst>
          </p:cNvPr>
          <p:cNvSpPr>
            <a:spLocks noGrp="1"/>
          </p:cNvSpPr>
          <p:nvPr>
            <p:ph type="dt" sz="half" idx="10"/>
          </p:nvPr>
        </p:nvSpPr>
        <p:spPr/>
        <p:txBody>
          <a:bodyPr/>
          <a:lstStyle/>
          <a:p>
            <a:fld id="{D93E8A5D-3705-477A-BBB1-3F074CB9B85E}" type="datetimeFigureOut">
              <a:rPr lang="en-US" smtClean="0"/>
              <a:t>11/20/2025</a:t>
            </a:fld>
            <a:endParaRPr lang="en-US"/>
          </a:p>
        </p:txBody>
      </p:sp>
      <p:sp>
        <p:nvSpPr>
          <p:cNvPr id="6" name="Footer Placeholder 5">
            <a:extLst>
              <a:ext uri="{FF2B5EF4-FFF2-40B4-BE49-F238E27FC236}">
                <a16:creationId xmlns:a16="http://schemas.microsoft.com/office/drawing/2014/main" id="{11B72763-483F-ED70-0393-9C0A9AE3FB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0963F3-9F90-D522-E434-A397746A0B2B}"/>
              </a:ext>
            </a:extLst>
          </p:cNvPr>
          <p:cNvSpPr>
            <a:spLocks noGrp="1"/>
          </p:cNvSpPr>
          <p:nvPr>
            <p:ph type="sldNum" sz="quarter" idx="12"/>
          </p:nvPr>
        </p:nvSpPr>
        <p:spPr/>
        <p:txBody>
          <a:bodyPr/>
          <a:lstStyle/>
          <a:p>
            <a:fld id="{B476D956-CF92-4496-971F-C28D9A698D5B}" type="slidenum">
              <a:rPr lang="en-US" smtClean="0"/>
              <a:t>‹#›</a:t>
            </a:fld>
            <a:endParaRPr lang="en-US"/>
          </a:p>
        </p:txBody>
      </p:sp>
    </p:spTree>
    <p:extLst>
      <p:ext uri="{BB962C8B-B14F-4D97-AF65-F5344CB8AC3E}">
        <p14:creationId xmlns:p14="http://schemas.microsoft.com/office/powerpoint/2010/main" val="23416778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16E0EA-B7D9-BB32-A1F8-D5005B8EB9E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3BD7E84-D541-7D78-A8C8-FBB26E7771C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984E52-AE5F-B0F6-5E11-CC8C4BFB289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D81BCC8-474A-3922-2FD6-ED06555DB3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C0701DD-4834-7DC4-10B6-91D86C58D8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29E11C7-FE2E-2AFD-2782-0ADABB9E985E}"/>
              </a:ext>
            </a:extLst>
          </p:cNvPr>
          <p:cNvSpPr>
            <a:spLocks noGrp="1"/>
          </p:cNvSpPr>
          <p:nvPr>
            <p:ph type="dt" sz="half" idx="10"/>
          </p:nvPr>
        </p:nvSpPr>
        <p:spPr/>
        <p:txBody>
          <a:bodyPr/>
          <a:lstStyle/>
          <a:p>
            <a:fld id="{D93E8A5D-3705-477A-BBB1-3F074CB9B85E}" type="datetimeFigureOut">
              <a:rPr lang="en-US" smtClean="0"/>
              <a:t>11/20/2025</a:t>
            </a:fld>
            <a:endParaRPr lang="en-US"/>
          </a:p>
        </p:txBody>
      </p:sp>
      <p:sp>
        <p:nvSpPr>
          <p:cNvPr id="8" name="Footer Placeholder 7">
            <a:extLst>
              <a:ext uri="{FF2B5EF4-FFF2-40B4-BE49-F238E27FC236}">
                <a16:creationId xmlns:a16="http://schemas.microsoft.com/office/drawing/2014/main" id="{EE7E050B-BE5C-BC64-3072-29E333F9CE5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030ADE6-9400-6AF9-62A1-8D76EF3CD2ED}"/>
              </a:ext>
            </a:extLst>
          </p:cNvPr>
          <p:cNvSpPr>
            <a:spLocks noGrp="1"/>
          </p:cNvSpPr>
          <p:nvPr>
            <p:ph type="sldNum" sz="quarter" idx="12"/>
          </p:nvPr>
        </p:nvSpPr>
        <p:spPr/>
        <p:txBody>
          <a:bodyPr/>
          <a:lstStyle/>
          <a:p>
            <a:fld id="{B476D956-CF92-4496-971F-C28D9A698D5B}" type="slidenum">
              <a:rPr lang="en-US" smtClean="0"/>
              <a:t>‹#›</a:t>
            </a:fld>
            <a:endParaRPr lang="en-US"/>
          </a:p>
        </p:txBody>
      </p:sp>
    </p:spTree>
    <p:extLst>
      <p:ext uri="{BB962C8B-B14F-4D97-AF65-F5344CB8AC3E}">
        <p14:creationId xmlns:p14="http://schemas.microsoft.com/office/powerpoint/2010/main" val="22610056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595C4-6BCF-E9CB-AE61-8A966C43586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5D10AAB-221B-636B-727D-F294383934E5}"/>
              </a:ext>
            </a:extLst>
          </p:cNvPr>
          <p:cNvSpPr>
            <a:spLocks noGrp="1"/>
          </p:cNvSpPr>
          <p:nvPr>
            <p:ph type="dt" sz="half" idx="10"/>
          </p:nvPr>
        </p:nvSpPr>
        <p:spPr/>
        <p:txBody>
          <a:bodyPr/>
          <a:lstStyle/>
          <a:p>
            <a:fld id="{D93E8A5D-3705-477A-BBB1-3F074CB9B85E}" type="datetimeFigureOut">
              <a:rPr lang="en-US" smtClean="0"/>
              <a:t>11/20/2025</a:t>
            </a:fld>
            <a:endParaRPr lang="en-US"/>
          </a:p>
        </p:txBody>
      </p:sp>
      <p:sp>
        <p:nvSpPr>
          <p:cNvPr id="4" name="Footer Placeholder 3">
            <a:extLst>
              <a:ext uri="{FF2B5EF4-FFF2-40B4-BE49-F238E27FC236}">
                <a16:creationId xmlns:a16="http://schemas.microsoft.com/office/drawing/2014/main" id="{4629D8F9-CD11-3716-76F0-0CB20DD0BA3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19B782-237A-EF6A-F028-2D399DFA3652}"/>
              </a:ext>
            </a:extLst>
          </p:cNvPr>
          <p:cNvSpPr>
            <a:spLocks noGrp="1"/>
          </p:cNvSpPr>
          <p:nvPr>
            <p:ph type="sldNum" sz="quarter" idx="12"/>
          </p:nvPr>
        </p:nvSpPr>
        <p:spPr/>
        <p:txBody>
          <a:bodyPr/>
          <a:lstStyle/>
          <a:p>
            <a:fld id="{B476D956-CF92-4496-971F-C28D9A698D5B}" type="slidenum">
              <a:rPr lang="en-US" smtClean="0"/>
              <a:t>‹#›</a:t>
            </a:fld>
            <a:endParaRPr lang="en-US"/>
          </a:p>
        </p:txBody>
      </p:sp>
    </p:spTree>
    <p:extLst>
      <p:ext uri="{BB962C8B-B14F-4D97-AF65-F5344CB8AC3E}">
        <p14:creationId xmlns:p14="http://schemas.microsoft.com/office/powerpoint/2010/main" val="453816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9FD9364-6803-CA77-B414-E41B33949F0E}"/>
              </a:ext>
            </a:extLst>
          </p:cNvPr>
          <p:cNvSpPr>
            <a:spLocks noGrp="1"/>
          </p:cNvSpPr>
          <p:nvPr>
            <p:ph type="dt" sz="half" idx="10"/>
          </p:nvPr>
        </p:nvSpPr>
        <p:spPr/>
        <p:txBody>
          <a:bodyPr/>
          <a:lstStyle/>
          <a:p>
            <a:fld id="{D93E8A5D-3705-477A-BBB1-3F074CB9B85E}" type="datetimeFigureOut">
              <a:rPr lang="en-US" smtClean="0"/>
              <a:t>11/20/2025</a:t>
            </a:fld>
            <a:endParaRPr lang="en-US"/>
          </a:p>
        </p:txBody>
      </p:sp>
      <p:sp>
        <p:nvSpPr>
          <p:cNvPr id="3" name="Footer Placeholder 2">
            <a:extLst>
              <a:ext uri="{FF2B5EF4-FFF2-40B4-BE49-F238E27FC236}">
                <a16:creationId xmlns:a16="http://schemas.microsoft.com/office/drawing/2014/main" id="{FAEB8993-3B13-3D8D-272A-FF6A728D483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D0F65BC-137F-898D-2234-7BE8DC28F0F8}"/>
              </a:ext>
            </a:extLst>
          </p:cNvPr>
          <p:cNvSpPr>
            <a:spLocks noGrp="1"/>
          </p:cNvSpPr>
          <p:nvPr>
            <p:ph type="sldNum" sz="quarter" idx="12"/>
          </p:nvPr>
        </p:nvSpPr>
        <p:spPr/>
        <p:txBody>
          <a:bodyPr/>
          <a:lstStyle/>
          <a:p>
            <a:fld id="{B476D956-CF92-4496-971F-C28D9A698D5B}" type="slidenum">
              <a:rPr lang="en-US" smtClean="0"/>
              <a:t>‹#›</a:t>
            </a:fld>
            <a:endParaRPr lang="en-US"/>
          </a:p>
        </p:txBody>
      </p:sp>
    </p:spTree>
    <p:extLst>
      <p:ext uri="{BB962C8B-B14F-4D97-AF65-F5344CB8AC3E}">
        <p14:creationId xmlns:p14="http://schemas.microsoft.com/office/powerpoint/2010/main" val="26434014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527D2-F51F-5E75-5E8E-563CB60AA7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8A732BD-D51E-7F58-0D0C-2AC743E0777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ED2E518-7C53-13E2-4A10-B62C24D643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A471865-1E97-9389-FC6B-233DD53A3D77}"/>
              </a:ext>
            </a:extLst>
          </p:cNvPr>
          <p:cNvSpPr>
            <a:spLocks noGrp="1"/>
          </p:cNvSpPr>
          <p:nvPr>
            <p:ph type="dt" sz="half" idx="10"/>
          </p:nvPr>
        </p:nvSpPr>
        <p:spPr/>
        <p:txBody>
          <a:bodyPr/>
          <a:lstStyle/>
          <a:p>
            <a:fld id="{D93E8A5D-3705-477A-BBB1-3F074CB9B85E}" type="datetimeFigureOut">
              <a:rPr lang="en-US" smtClean="0"/>
              <a:t>11/20/2025</a:t>
            </a:fld>
            <a:endParaRPr lang="en-US"/>
          </a:p>
        </p:txBody>
      </p:sp>
      <p:sp>
        <p:nvSpPr>
          <p:cNvPr id="6" name="Footer Placeholder 5">
            <a:extLst>
              <a:ext uri="{FF2B5EF4-FFF2-40B4-BE49-F238E27FC236}">
                <a16:creationId xmlns:a16="http://schemas.microsoft.com/office/drawing/2014/main" id="{88BB1512-077E-8731-00AD-29AD5A9D6E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5E1D969-2C52-7D62-65BB-953CE3F308A6}"/>
              </a:ext>
            </a:extLst>
          </p:cNvPr>
          <p:cNvSpPr>
            <a:spLocks noGrp="1"/>
          </p:cNvSpPr>
          <p:nvPr>
            <p:ph type="sldNum" sz="quarter" idx="12"/>
          </p:nvPr>
        </p:nvSpPr>
        <p:spPr/>
        <p:txBody>
          <a:bodyPr/>
          <a:lstStyle/>
          <a:p>
            <a:fld id="{B476D956-CF92-4496-971F-C28D9A698D5B}" type="slidenum">
              <a:rPr lang="en-US" smtClean="0"/>
              <a:t>‹#›</a:t>
            </a:fld>
            <a:endParaRPr lang="en-US"/>
          </a:p>
        </p:txBody>
      </p:sp>
    </p:spTree>
    <p:extLst>
      <p:ext uri="{BB962C8B-B14F-4D97-AF65-F5344CB8AC3E}">
        <p14:creationId xmlns:p14="http://schemas.microsoft.com/office/powerpoint/2010/main" val="14160890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19A27-4569-68C7-DFF5-E9181A4821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E374901-FEFA-17E0-0C6B-37597708AAC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3726E8-8B02-8C21-BE2A-50B356CE84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F5F3FF-7B84-5DC6-3419-08529CB8A888}"/>
              </a:ext>
            </a:extLst>
          </p:cNvPr>
          <p:cNvSpPr>
            <a:spLocks noGrp="1"/>
          </p:cNvSpPr>
          <p:nvPr>
            <p:ph type="dt" sz="half" idx="10"/>
          </p:nvPr>
        </p:nvSpPr>
        <p:spPr/>
        <p:txBody>
          <a:bodyPr/>
          <a:lstStyle/>
          <a:p>
            <a:fld id="{D93E8A5D-3705-477A-BBB1-3F074CB9B85E}" type="datetimeFigureOut">
              <a:rPr lang="en-US" smtClean="0"/>
              <a:t>11/20/2025</a:t>
            </a:fld>
            <a:endParaRPr lang="en-US"/>
          </a:p>
        </p:txBody>
      </p:sp>
      <p:sp>
        <p:nvSpPr>
          <p:cNvPr id="6" name="Footer Placeholder 5">
            <a:extLst>
              <a:ext uri="{FF2B5EF4-FFF2-40B4-BE49-F238E27FC236}">
                <a16:creationId xmlns:a16="http://schemas.microsoft.com/office/drawing/2014/main" id="{0D41A6C1-8F14-F874-4229-4E12CFA1A3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7606B5C-7D08-F681-9A5C-81F0C9B4907D}"/>
              </a:ext>
            </a:extLst>
          </p:cNvPr>
          <p:cNvSpPr>
            <a:spLocks noGrp="1"/>
          </p:cNvSpPr>
          <p:nvPr>
            <p:ph type="sldNum" sz="quarter" idx="12"/>
          </p:nvPr>
        </p:nvSpPr>
        <p:spPr/>
        <p:txBody>
          <a:bodyPr/>
          <a:lstStyle/>
          <a:p>
            <a:fld id="{B476D956-CF92-4496-971F-C28D9A698D5B}" type="slidenum">
              <a:rPr lang="en-US" smtClean="0"/>
              <a:t>‹#›</a:t>
            </a:fld>
            <a:endParaRPr lang="en-US"/>
          </a:p>
        </p:txBody>
      </p:sp>
    </p:spTree>
    <p:extLst>
      <p:ext uri="{BB962C8B-B14F-4D97-AF65-F5344CB8AC3E}">
        <p14:creationId xmlns:p14="http://schemas.microsoft.com/office/powerpoint/2010/main" val="2422496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3CA154-1262-A42B-FE18-5F1625ED28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923B388-4EC6-9960-47FB-17DE2755B50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C8DF5B-485A-8072-C675-66BFBEBF4189}"/>
              </a:ext>
            </a:extLst>
          </p:cNvPr>
          <p:cNvSpPr>
            <a:spLocks noGrp="1"/>
          </p:cNvSpPr>
          <p:nvPr>
            <p:ph type="dt" sz="half" idx="10"/>
          </p:nvPr>
        </p:nvSpPr>
        <p:spPr/>
        <p:txBody>
          <a:bodyPr/>
          <a:lstStyle/>
          <a:p>
            <a:fld id="{D93E8A5D-3705-477A-BBB1-3F074CB9B85E}" type="datetimeFigureOut">
              <a:rPr lang="en-US" smtClean="0"/>
              <a:t>11/20/2025</a:t>
            </a:fld>
            <a:endParaRPr lang="en-US"/>
          </a:p>
        </p:txBody>
      </p:sp>
      <p:sp>
        <p:nvSpPr>
          <p:cNvPr id="5" name="Footer Placeholder 4">
            <a:extLst>
              <a:ext uri="{FF2B5EF4-FFF2-40B4-BE49-F238E27FC236}">
                <a16:creationId xmlns:a16="http://schemas.microsoft.com/office/drawing/2014/main" id="{6C3EEC48-9600-B941-AA91-CCFE020FACC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EE0DF5-34E8-0343-24E7-C56385F1D586}"/>
              </a:ext>
            </a:extLst>
          </p:cNvPr>
          <p:cNvSpPr>
            <a:spLocks noGrp="1"/>
          </p:cNvSpPr>
          <p:nvPr>
            <p:ph type="sldNum" sz="quarter" idx="12"/>
          </p:nvPr>
        </p:nvSpPr>
        <p:spPr/>
        <p:txBody>
          <a:bodyPr/>
          <a:lstStyle/>
          <a:p>
            <a:fld id="{B476D956-CF92-4496-971F-C28D9A698D5B}" type="slidenum">
              <a:rPr lang="en-US" smtClean="0"/>
              <a:t>‹#›</a:t>
            </a:fld>
            <a:endParaRPr lang="en-US"/>
          </a:p>
        </p:txBody>
      </p:sp>
    </p:spTree>
    <p:extLst>
      <p:ext uri="{BB962C8B-B14F-4D97-AF65-F5344CB8AC3E}">
        <p14:creationId xmlns:p14="http://schemas.microsoft.com/office/powerpoint/2010/main" val="41956571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6D007E5-837D-B0E5-94D9-7A273AEC5FB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5E10683-E3EE-28E1-76AF-65AEA40487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2DB0FE-E0A8-98DB-4F2C-69F51214F365}"/>
              </a:ext>
            </a:extLst>
          </p:cNvPr>
          <p:cNvSpPr>
            <a:spLocks noGrp="1"/>
          </p:cNvSpPr>
          <p:nvPr>
            <p:ph type="dt" sz="half" idx="10"/>
          </p:nvPr>
        </p:nvSpPr>
        <p:spPr/>
        <p:txBody>
          <a:bodyPr/>
          <a:lstStyle/>
          <a:p>
            <a:fld id="{D93E8A5D-3705-477A-BBB1-3F074CB9B85E}" type="datetimeFigureOut">
              <a:rPr lang="en-US" smtClean="0"/>
              <a:t>11/20/2025</a:t>
            </a:fld>
            <a:endParaRPr lang="en-US"/>
          </a:p>
        </p:txBody>
      </p:sp>
      <p:sp>
        <p:nvSpPr>
          <p:cNvPr id="5" name="Footer Placeholder 4">
            <a:extLst>
              <a:ext uri="{FF2B5EF4-FFF2-40B4-BE49-F238E27FC236}">
                <a16:creationId xmlns:a16="http://schemas.microsoft.com/office/drawing/2014/main" id="{A19F9543-2E74-F955-4A59-8FD1E47242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78B74D-A5C3-D3EE-5A29-B9D3DCA7B87F}"/>
              </a:ext>
            </a:extLst>
          </p:cNvPr>
          <p:cNvSpPr>
            <a:spLocks noGrp="1"/>
          </p:cNvSpPr>
          <p:nvPr>
            <p:ph type="sldNum" sz="quarter" idx="12"/>
          </p:nvPr>
        </p:nvSpPr>
        <p:spPr/>
        <p:txBody>
          <a:bodyPr/>
          <a:lstStyle/>
          <a:p>
            <a:fld id="{B476D956-CF92-4496-971F-C28D9A698D5B}" type="slidenum">
              <a:rPr lang="en-US" smtClean="0"/>
              <a:t>‹#›</a:t>
            </a:fld>
            <a:endParaRPr lang="en-US"/>
          </a:p>
        </p:txBody>
      </p:sp>
    </p:spTree>
    <p:extLst>
      <p:ext uri="{BB962C8B-B14F-4D97-AF65-F5344CB8AC3E}">
        <p14:creationId xmlns:p14="http://schemas.microsoft.com/office/powerpoint/2010/main" val="11751596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E035759-8775-5416-AC70-2F376C57C68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FF5C99BD-EC85-218B-885E-B3D42377A8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190FFD2-7BFF-A5DA-2E21-79670CC01D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3E8A5D-3705-477A-BBB1-3F074CB9B85E}" type="datetimeFigureOut">
              <a:rPr lang="en-US" smtClean="0"/>
              <a:t>11/20/2025</a:t>
            </a:fld>
            <a:endParaRPr lang="en-US"/>
          </a:p>
        </p:txBody>
      </p:sp>
      <p:sp>
        <p:nvSpPr>
          <p:cNvPr id="5" name="Footer Placeholder 4">
            <a:extLst>
              <a:ext uri="{FF2B5EF4-FFF2-40B4-BE49-F238E27FC236}">
                <a16:creationId xmlns:a16="http://schemas.microsoft.com/office/drawing/2014/main" id="{3289A3B6-6784-CE5A-1645-BC2E0D5C8C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A115195-6C7D-3BA8-4872-95078EAE137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76D956-CF92-4496-971F-C28D9A698D5B}" type="slidenum">
              <a:rPr lang="en-US" smtClean="0"/>
              <a:t>‹#›</a:t>
            </a:fld>
            <a:endParaRPr lang="en-US"/>
          </a:p>
        </p:txBody>
      </p:sp>
    </p:spTree>
    <p:extLst>
      <p:ext uri="{BB962C8B-B14F-4D97-AF65-F5344CB8AC3E}">
        <p14:creationId xmlns:p14="http://schemas.microsoft.com/office/powerpoint/2010/main" val="4641743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6.xml"/><Relationship Id="rId4" Type="http://schemas.openxmlformats.org/officeDocument/2006/relationships/image" Target="../media/image3.jpg"/></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8.jpg"/></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9.jpg"/></Relationships>
</file>

<file path=ppt/slides/_rels/slide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0.jpg"/></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11.jpg"/></Relationships>
</file>

<file path=ppt/slides/_rels/slide19.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E29A48-CBF1-DF9B-B96E-109C02FC2ADE}"/>
              </a:ext>
            </a:extLst>
          </p:cNvPr>
          <p:cNvSpPr>
            <a:spLocks noGrp="1"/>
          </p:cNvSpPr>
          <p:nvPr>
            <p:ph type="title"/>
          </p:nvPr>
        </p:nvSpPr>
        <p:spPr>
          <a:xfrm>
            <a:off x="0" y="1"/>
            <a:ext cx="12192000" cy="6858000"/>
          </a:xfrm>
        </p:spPr>
        <p:txBody>
          <a:bodyPr/>
          <a:lstStyle/>
          <a:p>
            <a:pPr algn="ctr"/>
            <a:r>
              <a:rPr lang="en-US" b="1" dirty="0"/>
              <a:t>USER MANUAL DOCUMENT</a:t>
            </a:r>
            <a:br>
              <a:rPr lang="en-US" b="1" dirty="0"/>
            </a:br>
            <a:r>
              <a:rPr lang="en-US" sz="4000" b="1" dirty="0"/>
              <a:t>Module </a:t>
            </a:r>
            <a:r>
              <a:rPr lang="en-US" sz="4000" b="1" dirty="0">
                <a:solidFill>
                  <a:schemeClr val="accent1">
                    <a:lumMod val="75000"/>
                  </a:schemeClr>
                </a:solidFill>
              </a:rPr>
              <a:t>- Pravesh Application</a:t>
            </a:r>
          </a:p>
        </p:txBody>
      </p:sp>
      <p:pic>
        <p:nvPicPr>
          <p:cNvPr id="4" name="Picture 3">
            <a:extLst>
              <a:ext uri="{FF2B5EF4-FFF2-40B4-BE49-F238E27FC236}">
                <a16:creationId xmlns:a16="http://schemas.microsoft.com/office/drawing/2014/main" id="{AFC56B87-CA7A-8F89-607A-6E991E7374EB}"/>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501603" y="0"/>
            <a:ext cx="1690397" cy="685490"/>
          </a:xfrm>
          <a:prstGeom prst="rect">
            <a:avLst/>
          </a:prstGeom>
        </p:spPr>
      </p:pic>
      <p:pic>
        <p:nvPicPr>
          <p:cNvPr id="5" name="Picture 4">
            <a:extLst>
              <a:ext uri="{FF2B5EF4-FFF2-40B4-BE49-F238E27FC236}">
                <a16:creationId xmlns:a16="http://schemas.microsoft.com/office/drawing/2014/main" id="{FBABD702-084A-75E7-4CB0-33E5821F0B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81212" cy="685896"/>
          </a:xfrm>
          <a:prstGeom prst="rect">
            <a:avLst/>
          </a:prstGeom>
        </p:spPr>
      </p:pic>
      <p:sp>
        <p:nvSpPr>
          <p:cNvPr id="7" name="TextBox 6">
            <a:extLst>
              <a:ext uri="{FF2B5EF4-FFF2-40B4-BE49-F238E27FC236}">
                <a16:creationId xmlns:a16="http://schemas.microsoft.com/office/drawing/2014/main" id="{1C14B7B4-7092-1F65-C571-5AAA2EF4C49B}"/>
              </a:ext>
            </a:extLst>
          </p:cNvPr>
          <p:cNvSpPr txBox="1"/>
          <p:nvPr/>
        </p:nvSpPr>
        <p:spPr>
          <a:xfrm>
            <a:off x="0" y="5705856"/>
            <a:ext cx="12192000" cy="1107996"/>
          </a:xfrm>
          <a:prstGeom prst="rect">
            <a:avLst/>
          </a:prstGeom>
          <a:noFill/>
        </p:spPr>
        <p:txBody>
          <a:bodyPr wrap="square">
            <a:spAutoFit/>
          </a:bodyPr>
          <a:lstStyle/>
          <a:p>
            <a:pPr algn="r"/>
            <a:endParaRPr dirty="0"/>
          </a:p>
          <a:p>
            <a:pPr>
              <a:defRPr sz="1600">
                <a:solidFill>
                  <a:srgbClr val="505050"/>
                </a:solidFill>
              </a:defRPr>
            </a:pPr>
            <a:r>
              <a:rPr dirty="0"/>
              <a:t>Prepared By: CHANDRU</a:t>
            </a:r>
            <a:r>
              <a:rPr lang="en-US" dirty="0"/>
              <a:t> </a:t>
            </a:r>
            <a:r>
              <a:rPr dirty="0"/>
              <a:t/>
            </a:r>
            <a:br>
              <a:rPr dirty="0"/>
            </a:br>
            <a:r>
              <a:rPr dirty="0"/>
              <a:t>Team: Catnip Infotech Private Limited</a:t>
            </a:r>
            <a:br>
              <a:rPr dirty="0"/>
            </a:br>
            <a:r>
              <a:rPr dirty="0"/>
              <a:t>Version: v1.0 | Last Updated: 2</a:t>
            </a:r>
            <a:r>
              <a:rPr lang="en-US" dirty="0"/>
              <a:t>9</a:t>
            </a:r>
            <a:r>
              <a:rPr dirty="0"/>
              <a:t>/09/2025</a:t>
            </a:r>
          </a:p>
        </p:txBody>
      </p:sp>
    </p:spTree>
    <p:extLst>
      <p:ext uri="{BB962C8B-B14F-4D97-AF65-F5344CB8AC3E}">
        <p14:creationId xmlns:p14="http://schemas.microsoft.com/office/powerpoint/2010/main" val="9154783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15D811C-BA45-B6C7-A5B3-A70A024F6FBD}"/>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501603" y="0"/>
            <a:ext cx="1690397" cy="685490"/>
          </a:xfrm>
          <a:prstGeom prst="rect">
            <a:avLst/>
          </a:prstGeom>
        </p:spPr>
      </p:pic>
      <p:pic>
        <p:nvPicPr>
          <p:cNvPr id="5" name="Picture 4">
            <a:extLst>
              <a:ext uri="{FF2B5EF4-FFF2-40B4-BE49-F238E27FC236}">
                <a16:creationId xmlns:a16="http://schemas.microsoft.com/office/drawing/2014/main" id="{4E259386-08D7-C5FF-21ED-20494694A0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81212" cy="685896"/>
          </a:xfrm>
          <a:prstGeom prst="rect">
            <a:avLst/>
          </a:prstGeom>
        </p:spPr>
      </p:pic>
      <p:sp>
        <p:nvSpPr>
          <p:cNvPr id="7" name="TextBox 6">
            <a:extLst>
              <a:ext uri="{FF2B5EF4-FFF2-40B4-BE49-F238E27FC236}">
                <a16:creationId xmlns:a16="http://schemas.microsoft.com/office/drawing/2014/main" id="{97501C45-B68A-D1C6-9106-A5DF2934B9B4}"/>
              </a:ext>
            </a:extLst>
          </p:cNvPr>
          <p:cNvSpPr txBox="1"/>
          <p:nvPr/>
        </p:nvSpPr>
        <p:spPr>
          <a:xfrm>
            <a:off x="3047144" y="2551837"/>
            <a:ext cx="6097712" cy="1754326"/>
          </a:xfrm>
          <a:prstGeom prst="rect">
            <a:avLst/>
          </a:prstGeom>
          <a:noFill/>
        </p:spPr>
        <p:txBody>
          <a:bodyPr wrap="square">
            <a:spAutoFit/>
          </a:bodyPr>
          <a:lstStyle/>
          <a:p>
            <a:r>
              <a:rPr lang="en-US" dirty="0"/>
              <a:t>All entries made in the Pravesh Application are referenced throughout the automation process. If any field is missed, mismatched, or entered incorrectly, it will impact subsequent processes such as Gate Entry, GRR, Dock, and MDR, as all these processes are interdependent. Therefore, every field must be filled accurately without discrepancies.</a:t>
            </a:r>
          </a:p>
        </p:txBody>
      </p:sp>
      <p:sp>
        <p:nvSpPr>
          <p:cNvPr id="11" name="TextBox 10">
            <a:extLst>
              <a:ext uri="{FF2B5EF4-FFF2-40B4-BE49-F238E27FC236}">
                <a16:creationId xmlns:a16="http://schemas.microsoft.com/office/drawing/2014/main" id="{AD09E149-8C42-F26A-7915-EC1AEFCC1DA4}"/>
              </a:ext>
            </a:extLst>
          </p:cNvPr>
          <p:cNvSpPr txBox="1"/>
          <p:nvPr/>
        </p:nvSpPr>
        <p:spPr>
          <a:xfrm>
            <a:off x="2742344" y="894487"/>
            <a:ext cx="6097712" cy="584775"/>
          </a:xfrm>
          <a:prstGeom prst="rect">
            <a:avLst/>
          </a:prstGeom>
          <a:noFill/>
        </p:spPr>
        <p:txBody>
          <a:bodyPr wrap="square">
            <a:spAutoFit/>
          </a:bodyPr>
          <a:lstStyle/>
          <a:p>
            <a:pPr algn="ctr"/>
            <a:r>
              <a:rPr lang="en-US" sz="3200" dirty="0"/>
              <a:t>Important Note:</a:t>
            </a:r>
          </a:p>
        </p:txBody>
      </p:sp>
    </p:spTree>
    <p:extLst>
      <p:ext uri="{BB962C8B-B14F-4D97-AF65-F5344CB8AC3E}">
        <p14:creationId xmlns:p14="http://schemas.microsoft.com/office/powerpoint/2010/main" val="11610672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69673" y="872836"/>
            <a:ext cx="5389418" cy="369332"/>
          </a:xfrm>
          <a:prstGeom prst="rect">
            <a:avLst/>
          </a:prstGeom>
          <a:noFill/>
        </p:spPr>
        <p:txBody>
          <a:bodyPr wrap="square" rtlCol="0">
            <a:spAutoFit/>
          </a:bodyPr>
          <a:lstStyle/>
          <a:p>
            <a:pPr algn="just"/>
            <a:r>
              <a:rPr lang="en-US" dirty="0" smtClean="0"/>
              <a:t>                             </a:t>
            </a:r>
            <a:r>
              <a:rPr lang="hi-IN" b="1" dirty="0" smtClean="0"/>
              <a:t>महत्वाची </a:t>
            </a:r>
            <a:r>
              <a:rPr lang="hi-IN" b="1" dirty="0"/>
              <a:t>नोंद:</a:t>
            </a:r>
            <a:endParaRPr lang="en-IN" b="1" dirty="0"/>
          </a:p>
        </p:txBody>
      </p:sp>
      <p:sp>
        <p:nvSpPr>
          <p:cNvPr id="3" name="TextBox 2"/>
          <p:cNvSpPr txBox="1"/>
          <p:nvPr/>
        </p:nvSpPr>
        <p:spPr>
          <a:xfrm>
            <a:off x="2092037" y="1731818"/>
            <a:ext cx="7550728" cy="1477328"/>
          </a:xfrm>
          <a:prstGeom prst="rect">
            <a:avLst/>
          </a:prstGeom>
          <a:noFill/>
        </p:spPr>
        <p:txBody>
          <a:bodyPr wrap="square" rtlCol="0">
            <a:spAutoFit/>
          </a:bodyPr>
          <a:lstStyle/>
          <a:p>
            <a:r>
              <a:rPr lang="hi-IN" dirty="0"/>
              <a:t>प्रवेश अप्लिकेशनमध्ये केलेल्या सर्व नोंदींचा संपूर्ण ऑटोमेशन प्रक्रियेत संदर्भ घेतला जातो. कोणतेही क्षेत्र (फील्ड) वगळले, चुकीचे भरले किंवा चुकीची माहिती दिली असल्यास </a:t>
            </a:r>
            <a:r>
              <a:rPr lang="en-IN" dirty="0"/>
              <a:t>Gate Entry, GRR, Dock </a:t>
            </a:r>
            <a:r>
              <a:rPr lang="hi-IN" dirty="0"/>
              <a:t>आणि </a:t>
            </a:r>
            <a:r>
              <a:rPr lang="en-IN" dirty="0"/>
              <a:t>MDR </a:t>
            </a:r>
            <a:r>
              <a:rPr lang="hi-IN" dirty="0"/>
              <a:t>यांसारख्या पुढील प्रक्रियांवर त्याचा थेट परिणाम होतो, कारण या सर्व प्रक्रिया एकमेकांवर अवलंबून आहेत. त्यामुळे प्रत्येक फील्ड अचूक व त्रुटीविरहित भरले जाणे अत्यंत आवश्यक आहे.</a:t>
            </a:r>
            <a:endParaRPr lang="en-IN" dirty="0"/>
          </a:p>
        </p:txBody>
      </p:sp>
    </p:spTree>
    <p:extLst>
      <p:ext uri="{BB962C8B-B14F-4D97-AF65-F5344CB8AC3E}">
        <p14:creationId xmlns:p14="http://schemas.microsoft.com/office/powerpoint/2010/main" val="27206191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1DAB91-1878-A9BC-06FC-22C407AC6A4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501603" y="0"/>
            <a:ext cx="1690397" cy="685490"/>
          </a:xfrm>
          <a:prstGeom prst="rect">
            <a:avLst/>
          </a:prstGeom>
        </p:spPr>
      </p:pic>
      <p:pic>
        <p:nvPicPr>
          <p:cNvPr id="7" name="Picture 6">
            <a:extLst>
              <a:ext uri="{FF2B5EF4-FFF2-40B4-BE49-F238E27FC236}">
                <a16:creationId xmlns:a16="http://schemas.microsoft.com/office/drawing/2014/main" id="{A2E73E3A-397A-3F24-CD0C-CBABF0AC9E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81212" cy="685896"/>
          </a:xfrm>
          <a:prstGeom prst="rect">
            <a:avLst/>
          </a:prstGeom>
        </p:spPr>
      </p:pic>
      <p:pic>
        <p:nvPicPr>
          <p:cNvPr id="11" name="Picture 10">
            <a:extLst>
              <a:ext uri="{FF2B5EF4-FFF2-40B4-BE49-F238E27FC236}">
                <a16:creationId xmlns:a16="http://schemas.microsoft.com/office/drawing/2014/main" id="{242290E3-A9AD-41D5-0C41-EDE397728CA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6272693" y="0"/>
            <a:ext cx="4228910" cy="6858000"/>
          </a:xfrm>
          <a:prstGeom prst="rect">
            <a:avLst/>
          </a:prstGeom>
        </p:spPr>
      </p:pic>
      <p:sp>
        <p:nvSpPr>
          <p:cNvPr id="13" name="TextBox 12">
            <a:extLst>
              <a:ext uri="{FF2B5EF4-FFF2-40B4-BE49-F238E27FC236}">
                <a16:creationId xmlns:a16="http://schemas.microsoft.com/office/drawing/2014/main" id="{ACF07520-F85B-54C9-65CA-5C4F272C526D}"/>
              </a:ext>
            </a:extLst>
          </p:cNvPr>
          <p:cNvSpPr txBox="1"/>
          <p:nvPr/>
        </p:nvSpPr>
        <p:spPr>
          <a:xfrm>
            <a:off x="154112" y="1863711"/>
            <a:ext cx="6493266" cy="2087751"/>
          </a:xfrm>
          <a:prstGeom prst="rect">
            <a:avLst/>
          </a:prstGeom>
          <a:noFill/>
        </p:spPr>
        <p:txBody>
          <a:bodyPr wrap="square">
            <a:spAutoFit/>
          </a:bodyPr>
          <a:lstStyle/>
          <a:p>
            <a:pPr marL="14605" marR="0">
              <a:spcBef>
                <a:spcPts val="1575"/>
              </a:spcBef>
              <a:buNone/>
            </a:pPr>
            <a:r>
              <a:rPr lang="en-US" sz="2800" b="1" dirty="0">
                <a:effectLst/>
                <a:latin typeface="Calibri" panose="020F0502020204030204" pitchFamily="34" charset="0"/>
                <a:ea typeface="Calibri" panose="020F0502020204030204" pitchFamily="34" charset="0"/>
              </a:rPr>
              <a:t>STEP 1 - Login</a:t>
            </a:r>
            <a:r>
              <a:rPr lang="en-US" sz="2800" b="1" spc="-15" dirty="0">
                <a:effectLst/>
                <a:latin typeface="Calibri" panose="020F0502020204030204" pitchFamily="34" charset="0"/>
                <a:ea typeface="Calibri" panose="020F0502020204030204" pitchFamily="34" charset="0"/>
              </a:rPr>
              <a:t> </a:t>
            </a:r>
            <a:r>
              <a:rPr lang="en-US" sz="2800" b="1" spc="-20" dirty="0">
                <a:effectLst/>
                <a:latin typeface="Calibri" panose="020F0502020204030204" pitchFamily="34" charset="0"/>
                <a:ea typeface="Calibri" panose="020F0502020204030204" pitchFamily="34" charset="0"/>
              </a:rPr>
              <a:t>Page</a:t>
            </a:r>
            <a:endParaRPr lang="en-US" sz="1600" dirty="0">
              <a:effectLst/>
              <a:latin typeface="Calibri" panose="020F0502020204030204" pitchFamily="34" charset="0"/>
              <a:ea typeface="Calibri" panose="020F0502020204030204" pitchFamily="34" charset="0"/>
            </a:endParaRPr>
          </a:p>
          <a:p>
            <a:pPr marL="342900" marR="0" lvl="0" indent="-342900">
              <a:spcBef>
                <a:spcPts val="965"/>
              </a:spcBef>
              <a:buFont typeface="Symbol" panose="05050102010706020507" pitchFamily="18" charset="2"/>
              <a:buChar char=""/>
              <a:tabLst>
                <a:tab pos="471805" algn="l"/>
              </a:tabLst>
            </a:pPr>
            <a:r>
              <a:rPr lang="en-US" sz="1800" b="1" spc="0" dirty="0">
                <a:effectLst/>
                <a:latin typeface="Calibri" panose="020F0502020204030204" pitchFamily="34" charset="0"/>
                <a:ea typeface="Symbol" panose="05050102010706020507" pitchFamily="18" charset="2"/>
                <a:cs typeface="Symbol" panose="05050102010706020507" pitchFamily="18" charset="2"/>
              </a:rPr>
              <a:t>Username</a:t>
            </a:r>
            <a:r>
              <a:rPr lang="en-US" sz="1800" b="1" spc="-40" dirty="0">
                <a:effectLst/>
                <a:latin typeface="Calibri" panose="020F0502020204030204" pitchFamily="34" charset="0"/>
                <a:ea typeface="Symbol" panose="05050102010706020507" pitchFamily="18" charset="2"/>
                <a:cs typeface="Symbol" panose="05050102010706020507" pitchFamily="18" charset="2"/>
              </a:rPr>
              <a:t> </a:t>
            </a:r>
            <a:r>
              <a:rPr lang="en-US" sz="1800" b="1" spc="0" dirty="0">
                <a:effectLst/>
                <a:latin typeface="Calibri" panose="020F0502020204030204" pitchFamily="34" charset="0"/>
                <a:ea typeface="Symbol" panose="05050102010706020507" pitchFamily="18" charset="2"/>
                <a:cs typeface="Symbol" panose="05050102010706020507" pitchFamily="18" charset="2"/>
              </a:rPr>
              <a:t>Field:</a:t>
            </a:r>
            <a:r>
              <a:rPr lang="en-US" sz="1800" b="1" spc="-3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Enter</a:t>
            </a:r>
            <a:r>
              <a:rPr lang="en-US" sz="1800" spc="-3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your</a:t>
            </a:r>
            <a:r>
              <a:rPr lang="en-US" sz="1800" spc="-4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registered</a:t>
            </a:r>
            <a:r>
              <a:rPr lang="en-US" sz="1800" spc="-35" dirty="0">
                <a:effectLst/>
                <a:latin typeface="Calibri" panose="020F0502020204030204" pitchFamily="34" charset="0"/>
                <a:ea typeface="Symbol" panose="05050102010706020507" pitchFamily="18" charset="2"/>
                <a:cs typeface="Symbol" panose="05050102010706020507" pitchFamily="18" charset="2"/>
              </a:rPr>
              <a:t> </a:t>
            </a:r>
            <a:r>
              <a:rPr lang="en-US" sz="1800" spc="-10" dirty="0">
                <a:effectLst/>
                <a:latin typeface="Calibri" panose="020F0502020204030204" pitchFamily="34" charset="0"/>
                <a:ea typeface="Symbol" panose="05050102010706020507" pitchFamily="18" charset="2"/>
                <a:cs typeface="Symbol" panose="05050102010706020507" pitchFamily="18" charset="2"/>
              </a:rPr>
              <a:t>username.</a:t>
            </a:r>
            <a:endParaRPr lang="en-US" sz="1600" spc="0" dirty="0">
              <a:effectLst/>
              <a:latin typeface="Calibri" panose="020F0502020204030204" pitchFamily="34" charset="0"/>
              <a:ea typeface="Symbol" panose="05050102010706020507" pitchFamily="18" charset="2"/>
              <a:cs typeface="Symbol" panose="05050102010706020507" pitchFamily="18" charset="2"/>
            </a:endParaRPr>
          </a:p>
          <a:p>
            <a:pPr marL="342900" marR="0" lvl="0" indent="-342900">
              <a:spcBef>
                <a:spcPts val="115"/>
              </a:spcBef>
              <a:buFont typeface="Symbol" panose="05050102010706020507" pitchFamily="18" charset="2"/>
              <a:buChar char=""/>
              <a:tabLst>
                <a:tab pos="471805" algn="l"/>
              </a:tabLst>
            </a:pPr>
            <a:r>
              <a:rPr lang="en-US" sz="1800" b="1" spc="0" dirty="0">
                <a:effectLst/>
                <a:latin typeface="Calibri" panose="020F0502020204030204" pitchFamily="34" charset="0"/>
                <a:ea typeface="Symbol" panose="05050102010706020507" pitchFamily="18" charset="2"/>
                <a:cs typeface="Symbol" panose="05050102010706020507" pitchFamily="18" charset="2"/>
              </a:rPr>
              <a:t>Password</a:t>
            </a:r>
            <a:r>
              <a:rPr lang="en-US" sz="1800" b="1" spc="-40" dirty="0">
                <a:effectLst/>
                <a:latin typeface="Calibri" panose="020F0502020204030204" pitchFamily="34" charset="0"/>
                <a:ea typeface="Symbol" panose="05050102010706020507" pitchFamily="18" charset="2"/>
                <a:cs typeface="Symbol" panose="05050102010706020507" pitchFamily="18" charset="2"/>
              </a:rPr>
              <a:t> </a:t>
            </a:r>
            <a:r>
              <a:rPr lang="en-US" sz="1800" b="1" spc="0" dirty="0">
                <a:effectLst/>
                <a:latin typeface="Calibri" panose="020F0502020204030204" pitchFamily="34" charset="0"/>
                <a:ea typeface="Symbol" panose="05050102010706020507" pitchFamily="18" charset="2"/>
                <a:cs typeface="Symbol" panose="05050102010706020507" pitchFamily="18" charset="2"/>
              </a:rPr>
              <a:t>Field:</a:t>
            </a:r>
            <a:r>
              <a:rPr lang="en-US" sz="1800" b="1" spc="-3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Enter</a:t>
            </a:r>
            <a:r>
              <a:rPr lang="en-US" sz="1800" spc="-4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your</a:t>
            </a:r>
            <a:r>
              <a:rPr lang="en-US" sz="1800" spc="-35" dirty="0">
                <a:effectLst/>
                <a:latin typeface="Calibri" panose="020F0502020204030204" pitchFamily="34" charset="0"/>
                <a:ea typeface="Symbol" panose="05050102010706020507" pitchFamily="18" charset="2"/>
                <a:cs typeface="Symbol" panose="05050102010706020507" pitchFamily="18" charset="2"/>
              </a:rPr>
              <a:t> </a:t>
            </a:r>
            <a:r>
              <a:rPr lang="en-US" sz="1800" spc="-10" dirty="0">
                <a:effectLst/>
                <a:latin typeface="Calibri" panose="020F0502020204030204" pitchFamily="34" charset="0"/>
                <a:ea typeface="Symbol" panose="05050102010706020507" pitchFamily="18" charset="2"/>
                <a:cs typeface="Symbol" panose="05050102010706020507" pitchFamily="18" charset="2"/>
              </a:rPr>
              <a:t>password.</a:t>
            </a:r>
            <a:endParaRPr lang="en-US" sz="1600" spc="0" dirty="0">
              <a:effectLst/>
              <a:latin typeface="Calibri" panose="020F0502020204030204" pitchFamily="34" charset="0"/>
              <a:ea typeface="Symbol" panose="05050102010706020507" pitchFamily="18" charset="2"/>
              <a:cs typeface="Symbol" panose="05050102010706020507" pitchFamily="18" charset="2"/>
            </a:endParaRPr>
          </a:p>
          <a:p>
            <a:pPr marL="342900" marR="0" lvl="0" indent="-342900">
              <a:spcBef>
                <a:spcPts val="115"/>
              </a:spcBef>
              <a:buFont typeface="Symbol" panose="05050102010706020507" pitchFamily="18" charset="2"/>
              <a:buChar char=""/>
              <a:tabLst>
                <a:tab pos="471805" algn="l"/>
              </a:tabLst>
            </a:pPr>
            <a:r>
              <a:rPr lang="en-US" sz="1800" b="1" spc="0" dirty="0">
                <a:effectLst/>
                <a:latin typeface="Calibri" panose="020F0502020204030204" pitchFamily="34" charset="0"/>
                <a:ea typeface="Symbol" panose="05050102010706020507" pitchFamily="18" charset="2"/>
                <a:cs typeface="Symbol" panose="05050102010706020507" pitchFamily="18" charset="2"/>
              </a:rPr>
              <a:t>Login</a:t>
            </a:r>
            <a:r>
              <a:rPr lang="en-US" sz="1800" b="1" spc="-40" dirty="0">
                <a:effectLst/>
                <a:latin typeface="Calibri" panose="020F0502020204030204" pitchFamily="34" charset="0"/>
                <a:ea typeface="Symbol" panose="05050102010706020507" pitchFamily="18" charset="2"/>
                <a:cs typeface="Symbol" panose="05050102010706020507" pitchFamily="18" charset="2"/>
              </a:rPr>
              <a:t> </a:t>
            </a:r>
            <a:r>
              <a:rPr lang="en-US" sz="1800" b="1" spc="0" dirty="0">
                <a:effectLst/>
                <a:latin typeface="Calibri" panose="020F0502020204030204" pitchFamily="34" charset="0"/>
                <a:ea typeface="Symbol" panose="05050102010706020507" pitchFamily="18" charset="2"/>
                <a:cs typeface="Symbol" panose="05050102010706020507" pitchFamily="18" charset="2"/>
              </a:rPr>
              <a:t>Button:</a:t>
            </a:r>
            <a:r>
              <a:rPr lang="en-US" sz="1800" b="1" spc="-4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Tap</a:t>
            </a:r>
            <a:r>
              <a:rPr lang="en-US" sz="1800" spc="-4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to</a:t>
            </a:r>
            <a:r>
              <a:rPr lang="en-US" sz="1800" spc="-4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access</a:t>
            </a:r>
            <a:r>
              <a:rPr lang="en-US" sz="1800" spc="-4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the</a:t>
            </a:r>
            <a:r>
              <a:rPr lang="en-US" sz="1800" spc="-35" dirty="0">
                <a:effectLst/>
                <a:latin typeface="Calibri" panose="020F0502020204030204" pitchFamily="34" charset="0"/>
                <a:ea typeface="Symbol" panose="05050102010706020507" pitchFamily="18" charset="2"/>
                <a:cs typeface="Symbol" panose="05050102010706020507" pitchFamily="18" charset="2"/>
              </a:rPr>
              <a:t> </a:t>
            </a:r>
            <a:r>
              <a:rPr lang="en-US" sz="1800" spc="-10" dirty="0">
                <a:effectLst/>
                <a:latin typeface="Calibri" panose="020F0502020204030204" pitchFamily="34" charset="0"/>
                <a:ea typeface="Symbol" panose="05050102010706020507" pitchFamily="18" charset="2"/>
                <a:cs typeface="Symbol" panose="05050102010706020507" pitchFamily="18" charset="2"/>
              </a:rPr>
              <a:t>system.</a:t>
            </a:r>
            <a:endParaRPr lang="en-US" sz="1600" spc="0" dirty="0">
              <a:effectLst/>
              <a:latin typeface="Calibri" panose="020F0502020204030204" pitchFamily="34" charset="0"/>
              <a:ea typeface="Symbol" panose="05050102010706020507" pitchFamily="18" charset="2"/>
              <a:cs typeface="Symbol" panose="05050102010706020507" pitchFamily="18" charset="2"/>
            </a:endParaRPr>
          </a:p>
          <a:p>
            <a:pPr marL="342900" marR="0" lvl="0" indent="-342900">
              <a:spcBef>
                <a:spcPts val="115"/>
              </a:spcBef>
              <a:buFont typeface="Symbol" panose="05050102010706020507" pitchFamily="18" charset="2"/>
              <a:buChar char=""/>
              <a:tabLst>
                <a:tab pos="471805" algn="l"/>
              </a:tabLst>
            </a:pPr>
            <a:r>
              <a:rPr lang="en-US" sz="1800" b="1" spc="0" dirty="0">
                <a:effectLst/>
                <a:latin typeface="Calibri" panose="020F0502020204030204" pitchFamily="34" charset="0"/>
                <a:ea typeface="Symbol" panose="05050102010706020507" pitchFamily="18" charset="2"/>
                <a:cs typeface="Symbol" panose="05050102010706020507" pitchFamily="18" charset="2"/>
              </a:rPr>
              <a:t>Forgot</a:t>
            </a:r>
            <a:r>
              <a:rPr lang="en-US" sz="1800" b="1" spc="-50" dirty="0">
                <a:effectLst/>
                <a:latin typeface="Calibri" panose="020F0502020204030204" pitchFamily="34" charset="0"/>
                <a:ea typeface="Symbol" panose="05050102010706020507" pitchFamily="18" charset="2"/>
                <a:cs typeface="Symbol" panose="05050102010706020507" pitchFamily="18" charset="2"/>
              </a:rPr>
              <a:t> </a:t>
            </a:r>
            <a:r>
              <a:rPr lang="en-US" sz="1800" b="1" spc="0" dirty="0">
                <a:effectLst/>
                <a:latin typeface="Calibri" panose="020F0502020204030204" pitchFamily="34" charset="0"/>
                <a:ea typeface="Symbol" panose="05050102010706020507" pitchFamily="18" charset="2"/>
                <a:cs typeface="Symbol" panose="05050102010706020507" pitchFamily="18" charset="2"/>
              </a:rPr>
              <a:t>Password?</a:t>
            </a:r>
            <a:r>
              <a:rPr lang="en-US" sz="1800" b="1" spc="-4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Resets</a:t>
            </a:r>
            <a:r>
              <a:rPr lang="en-US" sz="1800" spc="-5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your</a:t>
            </a:r>
            <a:r>
              <a:rPr lang="en-US" sz="1800" spc="-50" dirty="0">
                <a:effectLst/>
                <a:latin typeface="Calibri" panose="020F0502020204030204" pitchFamily="34" charset="0"/>
                <a:ea typeface="Symbol" panose="05050102010706020507" pitchFamily="18" charset="2"/>
                <a:cs typeface="Symbol" panose="05050102010706020507" pitchFamily="18" charset="2"/>
              </a:rPr>
              <a:t> </a:t>
            </a:r>
            <a:r>
              <a:rPr lang="en-US" sz="1800" spc="-10" dirty="0">
                <a:effectLst/>
                <a:latin typeface="Calibri" panose="020F0502020204030204" pitchFamily="34" charset="0"/>
                <a:ea typeface="Symbol" panose="05050102010706020507" pitchFamily="18" charset="2"/>
                <a:cs typeface="Symbol" panose="05050102010706020507" pitchFamily="18" charset="2"/>
              </a:rPr>
              <a:t>password.</a:t>
            </a:r>
            <a:endParaRPr lang="en-US" sz="1600" spc="0" dirty="0">
              <a:effectLst/>
              <a:latin typeface="Calibri" panose="020F0502020204030204" pitchFamily="34" charset="0"/>
              <a:ea typeface="Symbol" panose="05050102010706020507" pitchFamily="18" charset="2"/>
              <a:cs typeface="Symbol" panose="05050102010706020507" pitchFamily="18" charset="2"/>
            </a:endParaRPr>
          </a:p>
          <a:p>
            <a:pPr marL="342900" marR="0" lvl="0" indent="-342900">
              <a:spcBef>
                <a:spcPts val="115"/>
              </a:spcBef>
              <a:buFont typeface="Symbol" panose="05050102010706020507" pitchFamily="18" charset="2"/>
              <a:buChar char=""/>
              <a:tabLst>
                <a:tab pos="471805" algn="l"/>
              </a:tabLst>
            </a:pPr>
            <a:r>
              <a:rPr lang="en-US" sz="1800" b="1" spc="0" dirty="0">
                <a:effectLst/>
                <a:latin typeface="Calibri" panose="020F0502020204030204" pitchFamily="34" charset="0"/>
                <a:ea typeface="Symbol" panose="05050102010706020507" pitchFamily="18" charset="2"/>
                <a:cs typeface="Symbol" panose="05050102010706020507" pitchFamily="18" charset="2"/>
              </a:rPr>
              <a:t>Register:</a:t>
            </a:r>
            <a:r>
              <a:rPr lang="en-US" sz="1800" b="1" spc="-4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Opens</a:t>
            </a:r>
            <a:r>
              <a:rPr lang="en-US" sz="1800" spc="-5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registration</a:t>
            </a:r>
            <a:r>
              <a:rPr lang="en-US" sz="1800" spc="-3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screen</a:t>
            </a:r>
            <a:r>
              <a:rPr lang="en-US" sz="1800" spc="-5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for</a:t>
            </a:r>
            <a:r>
              <a:rPr lang="en-US" sz="1800" spc="-4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new</a:t>
            </a:r>
            <a:r>
              <a:rPr lang="en-US" sz="1800" spc="-55" dirty="0">
                <a:effectLst/>
                <a:latin typeface="Calibri" panose="020F0502020204030204" pitchFamily="34" charset="0"/>
                <a:ea typeface="Symbol" panose="05050102010706020507" pitchFamily="18" charset="2"/>
                <a:cs typeface="Symbol" panose="05050102010706020507" pitchFamily="18" charset="2"/>
              </a:rPr>
              <a:t> </a:t>
            </a:r>
            <a:r>
              <a:rPr lang="en-US" sz="1800" spc="-10" dirty="0">
                <a:effectLst/>
                <a:latin typeface="Calibri" panose="020F0502020204030204" pitchFamily="34" charset="0"/>
                <a:ea typeface="Symbol" panose="05050102010706020507" pitchFamily="18" charset="2"/>
                <a:cs typeface="Symbol" panose="05050102010706020507" pitchFamily="18" charset="2"/>
              </a:rPr>
              <a:t>users.</a:t>
            </a:r>
            <a:endParaRPr lang="en-US" sz="1600" spc="0" dirty="0">
              <a:effectLst/>
              <a:latin typeface="Calibri" panose="020F0502020204030204" pitchFamily="34" charset="0"/>
              <a:ea typeface="Symbol" panose="05050102010706020507" pitchFamily="18" charset="2"/>
              <a:cs typeface="Symbol" panose="05050102010706020507" pitchFamily="18" charset="2"/>
            </a:endParaRPr>
          </a:p>
        </p:txBody>
      </p:sp>
    </p:spTree>
    <p:extLst>
      <p:ext uri="{BB962C8B-B14F-4D97-AF65-F5344CB8AC3E}">
        <p14:creationId xmlns:p14="http://schemas.microsoft.com/office/powerpoint/2010/main" val="6648105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E62AD0-24E8-8445-217D-FD86515DB27A}"/>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987EC2D7-9D58-8FB3-BA5A-D6A2FE45D3A3}"/>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6272693" y="0"/>
            <a:ext cx="4228910" cy="6858000"/>
          </a:xfrm>
          <a:prstGeom prst="rect">
            <a:avLst/>
          </a:prstGeom>
        </p:spPr>
      </p:pic>
      <p:sp>
        <p:nvSpPr>
          <p:cNvPr id="3" name="TextBox 2"/>
          <p:cNvSpPr txBox="1"/>
          <p:nvPr/>
        </p:nvSpPr>
        <p:spPr>
          <a:xfrm>
            <a:off x="581891" y="1011382"/>
            <a:ext cx="5417127" cy="3416320"/>
          </a:xfrm>
          <a:prstGeom prst="rect">
            <a:avLst/>
          </a:prstGeom>
          <a:noFill/>
        </p:spPr>
        <p:txBody>
          <a:bodyPr wrap="square" rtlCol="0">
            <a:spAutoFit/>
          </a:bodyPr>
          <a:lstStyle/>
          <a:p>
            <a:r>
              <a:rPr lang="hi-IN" b="1" dirty="0" smtClean="0"/>
              <a:t>लॉगिन पेज</a:t>
            </a:r>
            <a:r>
              <a:rPr lang="en-US" b="1" dirty="0" smtClean="0"/>
              <a:t>  :</a:t>
            </a:r>
          </a:p>
          <a:p>
            <a:endParaRPr lang="hi-IN" b="1" dirty="0"/>
          </a:p>
          <a:p>
            <a:pPr marL="285750" indent="-285750">
              <a:buFont typeface="Arial" panose="020B0604020202020204" pitchFamily="34" charset="0"/>
              <a:buChar char="•"/>
            </a:pPr>
            <a:r>
              <a:rPr lang="en-IN" b="1" dirty="0" smtClean="0"/>
              <a:t>Username Field:</a:t>
            </a:r>
            <a:r>
              <a:rPr lang="en-IN" dirty="0" smtClean="0"/>
              <a:t> </a:t>
            </a:r>
            <a:r>
              <a:rPr lang="hi-IN" dirty="0" smtClean="0"/>
              <a:t>आपले नोंदणीकृत युजरनेम प्रविष्ट करा.</a:t>
            </a:r>
            <a:endParaRPr lang="en-US" dirty="0" smtClean="0"/>
          </a:p>
          <a:p>
            <a:endParaRPr lang="en-US" dirty="0" smtClean="0"/>
          </a:p>
          <a:p>
            <a:pPr marL="285750" indent="-285750">
              <a:buFont typeface="Arial" panose="020B0604020202020204" pitchFamily="34" charset="0"/>
              <a:buChar char="•"/>
            </a:pPr>
            <a:r>
              <a:rPr lang="en-IN" b="1" dirty="0" smtClean="0"/>
              <a:t>Password Field:</a:t>
            </a:r>
            <a:r>
              <a:rPr lang="en-IN" dirty="0" smtClean="0"/>
              <a:t> </a:t>
            </a:r>
            <a:r>
              <a:rPr lang="hi-IN" dirty="0" smtClean="0"/>
              <a:t>आपला पासवर्ड प्रविष्ट करा.</a:t>
            </a:r>
            <a:endParaRPr lang="en-US" dirty="0" smtClean="0"/>
          </a:p>
          <a:p>
            <a:endParaRPr lang="en-US" dirty="0" smtClean="0"/>
          </a:p>
          <a:p>
            <a:pPr marL="285750" indent="-285750">
              <a:buFont typeface="Arial" panose="020B0604020202020204" pitchFamily="34" charset="0"/>
              <a:buChar char="•"/>
            </a:pPr>
            <a:r>
              <a:rPr lang="en-IN" b="1" dirty="0" smtClean="0"/>
              <a:t>Login Button:</a:t>
            </a:r>
            <a:r>
              <a:rPr lang="en-IN" dirty="0" smtClean="0"/>
              <a:t> </a:t>
            </a:r>
            <a:r>
              <a:rPr lang="hi-IN" dirty="0" smtClean="0"/>
              <a:t>सिस्टममध्ये प्रवेश करण्यासाठी टॅप करा.</a:t>
            </a:r>
            <a:endParaRPr lang="en-US" dirty="0" smtClean="0"/>
          </a:p>
          <a:p>
            <a:endParaRPr lang="en-US" dirty="0" smtClean="0"/>
          </a:p>
          <a:p>
            <a:pPr marL="285750" indent="-285750">
              <a:buFont typeface="Arial" panose="020B0604020202020204" pitchFamily="34" charset="0"/>
              <a:buChar char="•"/>
            </a:pPr>
            <a:r>
              <a:rPr lang="en-IN" b="1" dirty="0" smtClean="0"/>
              <a:t>Forgot Password?:</a:t>
            </a:r>
            <a:r>
              <a:rPr lang="en-IN" dirty="0" smtClean="0"/>
              <a:t> </a:t>
            </a:r>
            <a:r>
              <a:rPr lang="hi-IN" dirty="0" smtClean="0"/>
              <a:t>पासवर्ड रीसेट करण्यासाठी वापरा.</a:t>
            </a:r>
            <a:endParaRPr lang="en-US" dirty="0" smtClean="0"/>
          </a:p>
          <a:p>
            <a:endParaRPr lang="en-US" dirty="0" smtClean="0"/>
          </a:p>
          <a:p>
            <a:pPr marL="285750" indent="-285750">
              <a:buFont typeface="Arial" panose="020B0604020202020204" pitchFamily="34" charset="0"/>
              <a:buChar char="•"/>
            </a:pPr>
            <a:r>
              <a:rPr lang="en-IN" b="1" dirty="0" smtClean="0"/>
              <a:t>Register:</a:t>
            </a:r>
            <a:r>
              <a:rPr lang="en-IN" dirty="0" smtClean="0"/>
              <a:t> </a:t>
            </a:r>
            <a:r>
              <a:rPr lang="hi-IN" dirty="0" smtClean="0"/>
              <a:t>नवीन वापरकर्त्यांसाठी नोंदणी स्क्रीन उघडते.</a:t>
            </a:r>
          </a:p>
          <a:p>
            <a:endParaRPr lang="en-IN" dirty="0"/>
          </a:p>
        </p:txBody>
      </p:sp>
    </p:spTree>
    <p:extLst>
      <p:ext uri="{BB962C8B-B14F-4D97-AF65-F5344CB8AC3E}">
        <p14:creationId xmlns:p14="http://schemas.microsoft.com/office/powerpoint/2010/main" val="7865913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4FADBF6-CA78-EE66-13A1-E2298764E292}"/>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501603" y="0"/>
            <a:ext cx="1690397" cy="685490"/>
          </a:xfrm>
          <a:prstGeom prst="rect">
            <a:avLst/>
          </a:prstGeom>
        </p:spPr>
      </p:pic>
      <p:pic>
        <p:nvPicPr>
          <p:cNvPr id="5" name="Picture 4">
            <a:extLst>
              <a:ext uri="{FF2B5EF4-FFF2-40B4-BE49-F238E27FC236}">
                <a16:creationId xmlns:a16="http://schemas.microsoft.com/office/drawing/2014/main" id="{ADDBFBC6-E38D-65E0-B580-37E53B64C3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81212" cy="685896"/>
          </a:xfrm>
          <a:prstGeom prst="rect">
            <a:avLst/>
          </a:prstGeom>
        </p:spPr>
      </p:pic>
      <p:pic>
        <p:nvPicPr>
          <p:cNvPr id="9" name="Picture 8">
            <a:extLst>
              <a:ext uri="{FF2B5EF4-FFF2-40B4-BE49-F238E27FC236}">
                <a16:creationId xmlns:a16="http://schemas.microsoft.com/office/drawing/2014/main" id="{D5874871-56A3-EC96-6809-4F8560A5E5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31183" y="0"/>
            <a:ext cx="4370420" cy="6858000"/>
          </a:xfrm>
          <a:prstGeom prst="rect">
            <a:avLst/>
          </a:prstGeom>
        </p:spPr>
      </p:pic>
      <p:sp>
        <p:nvSpPr>
          <p:cNvPr id="20" name="TextBox 19">
            <a:extLst>
              <a:ext uri="{FF2B5EF4-FFF2-40B4-BE49-F238E27FC236}">
                <a16:creationId xmlns:a16="http://schemas.microsoft.com/office/drawing/2014/main" id="{D65DAF90-A2BE-8B79-63EC-924DCA006E27}"/>
              </a:ext>
            </a:extLst>
          </p:cNvPr>
          <p:cNvSpPr txBox="1"/>
          <p:nvPr/>
        </p:nvSpPr>
        <p:spPr>
          <a:xfrm>
            <a:off x="0" y="1014263"/>
            <a:ext cx="5952162" cy="6801862"/>
          </a:xfrm>
          <a:prstGeom prst="rect">
            <a:avLst/>
          </a:prstGeom>
          <a:noFill/>
        </p:spPr>
        <p:txBody>
          <a:bodyPr wrap="square">
            <a:spAutoFit/>
          </a:bodyPr>
          <a:lstStyle/>
          <a:p>
            <a:pPr marL="14605" marR="0">
              <a:spcBef>
                <a:spcPts val="1575"/>
              </a:spcBef>
              <a:buNone/>
            </a:pPr>
            <a:r>
              <a:rPr lang="en-US" b="1" kern="0" dirty="0">
                <a:highlight>
                  <a:srgbClr val="FFFF00"/>
                </a:highlight>
                <a:uFill>
                  <a:solidFill>
                    <a:srgbClr val="000000"/>
                  </a:solidFill>
                </a:uFill>
                <a:latin typeface="Calibri" panose="020F0502020204030204" pitchFamily="34" charset="0"/>
                <a:ea typeface="Calibri" panose="020F0502020204030204" pitchFamily="34" charset="0"/>
              </a:rPr>
              <a:t>Vehicle</a:t>
            </a:r>
            <a:r>
              <a:rPr lang="en-US" b="1" kern="0" spc="-90" dirty="0">
                <a:highlight>
                  <a:srgbClr val="FFFF00"/>
                </a:highlight>
                <a:uFill>
                  <a:solidFill>
                    <a:srgbClr val="000000"/>
                  </a:solidFill>
                </a:uFill>
                <a:latin typeface="Calibri" panose="020F0502020204030204" pitchFamily="34" charset="0"/>
                <a:ea typeface="Calibri" panose="020F0502020204030204" pitchFamily="34" charset="0"/>
              </a:rPr>
              <a:t> </a:t>
            </a:r>
            <a:r>
              <a:rPr lang="en-US" b="1" kern="0" dirty="0">
                <a:highlight>
                  <a:srgbClr val="FFFF00"/>
                </a:highlight>
                <a:uFill>
                  <a:solidFill>
                    <a:srgbClr val="000000"/>
                  </a:solidFill>
                </a:uFill>
                <a:latin typeface="Calibri" panose="020F0502020204030204" pitchFamily="34" charset="0"/>
                <a:ea typeface="Calibri" panose="020F0502020204030204" pitchFamily="34" charset="0"/>
              </a:rPr>
              <a:t>Details</a:t>
            </a:r>
            <a:r>
              <a:rPr lang="en-US" b="1" kern="0" spc="-75" dirty="0">
                <a:highlight>
                  <a:srgbClr val="FFFF00"/>
                </a:highlight>
                <a:uFill>
                  <a:solidFill>
                    <a:srgbClr val="000000"/>
                  </a:solidFill>
                </a:uFill>
                <a:latin typeface="Calibri" panose="020F0502020204030204" pitchFamily="34" charset="0"/>
                <a:ea typeface="Calibri" panose="020F0502020204030204" pitchFamily="34" charset="0"/>
              </a:rPr>
              <a:t> </a:t>
            </a:r>
            <a:r>
              <a:rPr lang="en-US" b="1" kern="0" spc="-10" dirty="0">
                <a:highlight>
                  <a:srgbClr val="FFFF00"/>
                </a:highlight>
                <a:uFill>
                  <a:solidFill>
                    <a:srgbClr val="000000"/>
                  </a:solidFill>
                </a:uFill>
                <a:latin typeface="Calibri" panose="020F0502020204030204" pitchFamily="34" charset="0"/>
                <a:ea typeface="Calibri" panose="020F0502020204030204" pitchFamily="34" charset="0"/>
              </a:rPr>
              <a:t>Page:</a:t>
            </a:r>
            <a:endParaRPr lang="en-US" b="1" kern="0" dirty="0">
              <a:highlight>
                <a:srgbClr val="FFFF00"/>
              </a:highlight>
              <a:uFill>
                <a:solidFill>
                  <a:srgbClr val="000000"/>
                </a:solidFill>
              </a:uFill>
              <a:latin typeface="Calibri" panose="020F0502020204030204" pitchFamily="34" charset="0"/>
              <a:ea typeface="Calibri" panose="020F0502020204030204" pitchFamily="34" charset="0"/>
            </a:endParaRPr>
          </a:p>
          <a:p>
            <a:pPr lvl="1"/>
            <a:r>
              <a:rPr lang="en-US" b="1" dirty="0"/>
              <a:t>Green Channel Vehicle?</a:t>
            </a:r>
            <a:endParaRPr lang="en-US" sz="1600" dirty="0"/>
          </a:p>
          <a:p>
            <a:pPr lvl="2"/>
            <a:r>
              <a:rPr lang="en-US" dirty="0"/>
              <a:t>Toggle (Yes/No) to mark the vehicle as eligible for quick entry (typically pre- approved vehicle).</a:t>
            </a:r>
            <a:endParaRPr lang="en-US" sz="1600" dirty="0"/>
          </a:p>
          <a:p>
            <a:pPr lvl="1"/>
            <a:r>
              <a:rPr lang="en-US" b="1" dirty="0"/>
              <a:t>Vehicle Number Input</a:t>
            </a:r>
          </a:p>
          <a:p>
            <a:pPr lvl="2"/>
            <a:r>
              <a:rPr lang="en-US" dirty="0"/>
              <a:t>Field to enter the vehicle registration number then hit search.</a:t>
            </a:r>
          </a:p>
          <a:p>
            <a:pPr lvl="2"/>
            <a:endParaRPr lang="en-US" dirty="0"/>
          </a:p>
          <a:p>
            <a:r>
              <a:rPr lang="en-US" b="1" dirty="0"/>
              <a:t>If Vehicle data exists:</a:t>
            </a:r>
          </a:p>
          <a:p>
            <a:pPr lvl="1"/>
            <a:r>
              <a:rPr lang="en-US" b="1" dirty="0"/>
              <a:t>	</a:t>
            </a:r>
            <a:r>
              <a:rPr lang="en-US" dirty="0"/>
              <a:t>All fields will be automatically populated including 	PUC certificate details and validity dates.</a:t>
            </a:r>
          </a:p>
          <a:p>
            <a:pPr lvl="1"/>
            <a:endParaRPr lang="en-US" sz="1600" dirty="0"/>
          </a:p>
          <a:p>
            <a:pPr lvl="0"/>
            <a:r>
              <a:rPr lang="en-US" b="1" dirty="0"/>
              <a:t>If Vehicle data does NOT exist:</a:t>
            </a:r>
          </a:p>
          <a:p>
            <a:pPr lvl="1"/>
            <a:r>
              <a:rPr lang="en-US" b="1" dirty="0"/>
              <a:t>Upload Required Documents</a:t>
            </a:r>
          </a:p>
          <a:p>
            <a:pPr lvl="2"/>
            <a:r>
              <a:rPr lang="en-US" dirty="0"/>
              <a:t>PUC, Insurance, and FC certificate images can be uploaded using the respective upload buttons.</a:t>
            </a:r>
            <a:endParaRPr lang="en-US" sz="1600" dirty="0"/>
          </a:p>
          <a:p>
            <a:pPr lvl="1"/>
            <a:r>
              <a:rPr lang="en-US" b="1" dirty="0"/>
              <a:t>Extract Data Using OCR</a:t>
            </a:r>
          </a:p>
          <a:p>
            <a:pPr lvl="2"/>
            <a:r>
              <a:rPr lang="en-US" dirty="0"/>
              <a:t>Click the GET OCR button to auto-extract data from uploaded images.</a:t>
            </a:r>
            <a:endParaRPr lang="en-US" sz="1600" dirty="0"/>
          </a:p>
          <a:p>
            <a:pPr lvl="3"/>
            <a:endParaRPr lang="en-US" sz="1600" dirty="0"/>
          </a:p>
          <a:p>
            <a:pPr lvl="3"/>
            <a:endParaRPr lang="en-US" sz="1600" dirty="0"/>
          </a:p>
          <a:p>
            <a:pPr lvl="3"/>
            <a:endParaRPr lang="en-US" sz="1600" dirty="0"/>
          </a:p>
          <a:p>
            <a:pPr lvl="3"/>
            <a:endParaRPr lang="en-US" sz="1600" dirty="0"/>
          </a:p>
          <a:p>
            <a:pPr lvl="2"/>
            <a:endParaRPr lang="en-US" sz="1600" dirty="0"/>
          </a:p>
        </p:txBody>
      </p:sp>
    </p:spTree>
    <p:extLst>
      <p:ext uri="{BB962C8B-B14F-4D97-AF65-F5344CB8AC3E}">
        <p14:creationId xmlns:p14="http://schemas.microsoft.com/office/powerpoint/2010/main" val="3052156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53335C-5779-6D1B-6155-EE1229E91E62}"/>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CE913BA4-4389-46C4-5944-CA320F4959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31183" y="0"/>
            <a:ext cx="4370420" cy="6858000"/>
          </a:xfrm>
          <a:prstGeom prst="rect">
            <a:avLst/>
          </a:prstGeom>
        </p:spPr>
      </p:pic>
      <p:sp>
        <p:nvSpPr>
          <p:cNvPr id="3" name="TextBox 2"/>
          <p:cNvSpPr txBox="1"/>
          <p:nvPr/>
        </p:nvSpPr>
        <p:spPr>
          <a:xfrm>
            <a:off x="0" y="110836"/>
            <a:ext cx="5929745" cy="6740307"/>
          </a:xfrm>
          <a:prstGeom prst="rect">
            <a:avLst/>
          </a:prstGeom>
          <a:noFill/>
        </p:spPr>
        <p:txBody>
          <a:bodyPr wrap="square" rtlCol="0">
            <a:spAutoFit/>
          </a:bodyPr>
          <a:lstStyle/>
          <a:p>
            <a:pPr marL="285750" indent="-285750">
              <a:buFont typeface="Arial" panose="020B0604020202020204" pitchFamily="34" charset="0"/>
              <a:buChar char="•"/>
            </a:pPr>
            <a:r>
              <a:rPr lang="en-IN" b="1" dirty="0" smtClean="0"/>
              <a:t>Vehicle </a:t>
            </a:r>
            <a:r>
              <a:rPr lang="en-IN" b="1" dirty="0"/>
              <a:t>Details Page (</a:t>
            </a:r>
            <a:r>
              <a:rPr lang="hi-IN" b="1" dirty="0"/>
              <a:t>वाहन तपशील पृष्ठ)</a:t>
            </a:r>
          </a:p>
          <a:p>
            <a:r>
              <a:rPr lang="en-IN" dirty="0" smtClean="0"/>
              <a:t>Green </a:t>
            </a:r>
            <a:r>
              <a:rPr lang="en-IN" dirty="0"/>
              <a:t>Channel Vehicle?</a:t>
            </a:r>
            <a:br>
              <a:rPr lang="en-IN" dirty="0"/>
            </a:br>
            <a:r>
              <a:rPr lang="hi-IN" dirty="0" smtClean="0"/>
              <a:t>येस/नो </a:t>
            </a:r>
            <a:r>
              <a:rPr lang="hi-IN" dirty="0"/>
              <a:t>टॉगल वापरून वाहन ग्रीन चॅनेलसाठी (त्वरित </a:t>
            </a:r>
            <a:r>
              <a:rPr lang="hi-IN" dirty="0" smtClean="0"/>
              <a:t>प्रवेशासाठी</a:t>
            </a:r>
            <a:r>
              <a:rPr lang="hi-IN" dirty="0"/>
              <a:t>) पात्र आहे की नाही हे निवडा. </a:t>
            </a:r>
            <a:r>
              <a:rPr lang="hi-IN" i="1" dirty="0"/>
              <a:t>(हे सामान्यतः </a:t>
            </a:r>
            <a:r>
              <a:rPr lang="hi-IN" i="1" dirty="0" smtClean="0"/>
              <a:t>पूर्व-मंजूर वाहनांसाठी </a:t>
            </a:r>
            <a:r>
              <a:rPr lang="hi-IN" i="1" dirty="0"/>
              <a:t>लागू असते.)</a:t>
            </a:r>
            <a:endParaRPr lang="hi-IN" dirty="0"/>
          </a:p>
          <a:p>
            <a:r>
              <a:rPr lang="en-IN" dirty="0"/>
              <a:t>Vehicle Number Input</a:t>
            </a:r>
            <a:br>
              <a:rPr lang="en-IN" dirty="0"/>
            </a:br>
            <a:r>
              <a:rPr lang="hi-IN" dirty="0"/>
              <a:t>वाहनाचा नोंदणी क्रमांक प्रविष्ट करा आणि </a:t>
            </a:r>
            <a:r>
              <a:rPr lang="en-IN" b="1" dirty="0"/>
              <a:t>Search</a:t>
            </a:r>
            <a:r>
              <a:rPr lang="en-IN" dirty="0"/>
              <a:t> </a:t>
            </a:r>
            <a:r>
              <a:rPr lang="hi-IN" dirty="0"/>
              <a:t>वर क्लिक करा.</a:t>
            </a:r>
          </a:p>
          <a:p>
            <a:endParaRPr lang="en-US" dirty="0" smtClean="0"/>
          </a:p>
          <a:p>
            <a:endParaRPr lang="en-US" dirty="0" smtClean="0"/>
          </a:p>
          <a:p>
            <a:pPr marL="285750" indent="-285750">
              <a:buFont typeface="Arial" panose="020B0604020202020204" pitchFamily="34" charset="0"/>
              <a:buChar char="•"/>
            </a:pPr>
            <a:r>
              <a:rPr lang="en-IN" b="1" dirty="0"/>
              <a:t>If Vehicle data exists:</a:t>
            </a:r>
          </a:p>
          <a:p>
            <a:r>
              <a:rPr lang="en-IN" b="1" dirty="0"/>
              <a:t>(</a:t>
            </a:r>
            <a:r>
              <a:rPr lang="hi-IN" b="1" dirty="0"/>
              <a:t>वाहनाची माहिती आधीपासून उपलब्ध असल्यास):</a:t>
            </a:r>
            <a:r>
              <a:rPr lang="hi-IN" dirty="0"/>
              <a:t/>
            </a:r>
            <a:br>
              <a:rPr lang="hi-IN" dirty="0"/>
            </a:br>
            <a:r>
              <a:rPr lang="hi-IN" dirty="0"/>
              <a:t>सर्व फील्ड आपोआप भरली जातील, ज्यामध्ये </a:t>
            </a:r>
            <a:r>
              <a:rPr lang="en-IN" dirty="0"/>
              <a:t>PUC </a:t>
            </a:r>
            <a:r>
              <a:rPr lang="hi-IN" dirty="0"/>
              <a:t>प्रमाणपत्र तपशील आणि वैधता तारीख यांचा समावेश असेल</a:t>
            </a:r>
          </a:p>
          <a:p>
            <a:endParaRPr lang="en-US" dirty="0" smtClean="0"/>
          </a:p>
          <a:p>
            <a:endParaRPr lang="en-US" dirty="0" smtClean="0"/>
          </a:p>
          <a:p>
            <a:pPr marL="285750" indent="-285750">
              <a:buFont typeface="Arial" panose="020B0604020202020204" pitchFamily="34" charset="0"/>
              <a:buChar char="•"/>
            </a:pPr>
            <a:r>
              <a:rPr lang="en-IN" b="1" dirty="0"/>
              <a:t>If Vehicle data does NOT exist:</a:t>
            </a:r>
          </a:p>
          <a:p>
            <a:r>
              <a:rPr lang="en-IN" b="1" dirty="0"/>
              <a:t>(</a:t>
            </a:r>
            <a:r>
              <a:rPr lang="hi-IN" b="1" dirty="0"/>
              <a:t>वाहनाची माहिती उपलब्ध नसेल तर):</a:t>
            </a:r>
            <a:endParaRPr lang="hi-IN" dirty="0"/>
          </a:p>
          <a:p>
            <a:r>
              <a:rPr lang="en-IN" dirty="0"/>
              <a:t>Upload Required Documents</a:t>
            </a:r>
          </a:p>
          <a:p>
            <a:r>
              <a:rPr lang="en-IN" dirty="0"/>
              <a:t>PUC, Insurance </a:t>
            </a:r>
            <a:r>
              <a:rPr lang="hi-IN" dirty="0"/>
              <a:t>आणि </a:t>
            </a:r>
            <a:r>
              <a:rPr lang="en-IN" dirty="0"/>
              <a:t>FC </a:t>
            </a:r>
            <a:r>
              <a:rPr lang="hi-IN" dirty="0"/>
              <a:t>प्रमाणपत्रांच्या प्रतिमा संबंधित </a:t>
            </a:r>
            <a:r>
              <a:rPr lang="en-IN" dirty="0"/>
              <a:t>Upload </a:t>
            </a:r>
            <a:r>
              <a:rPr lang="hi-IN" dirty="0"/>
              <a:t>बटणांचा वापर करून अपलोड करा.</a:t>
            </a:r>
          </a:p>
          <a:p>
            <a:r>
              <a:rPr lang="en-IN" dirty="0"/>
              <a:t>Extract Data Using OCR</a:t>
            </a:r>
          </a:p>
          <a:p>
            <a:r>
              <a:rPr lang="hi-IN" dirty="0"/>
              <a:t>अपलोड केलेल्या प्रतिमांमधून माहिती आपोआप मिळवण्यासाठी </a:t>
            </a:r>
            <a:r>
              <a:rPr lang="en-IN" dirty="0"/>
              <a:t>GET OCR </a:t>
            </a:r>
            <a:r>
              <a:rPr lang="hi-IN" dirty="0"/>
              <a:t>बटणावर क्लिक करा.</a:t>
            </a:r>
          </a:p>
          <a:p>
            <a:endParaRPr lang="en-IN" dirty="0"/>
          </a:p>
        </p:txBody>
      </p:sp>
    </p:spTree>
    <p:extLst>
      <p:ext uri="{BB962C8B-B14F-4D97-AF65-F5344CB8AC3E}">
        <p14:creationId xmlns:p14="http://schemas.microsoft.com/office/powerpoint/2010/main" val="254504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726DC-8E4D-DC7C-344C-80A813090AA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311DBB9-A555-1ECB-43CD-731A387627A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81212" cy="685896"/>
          </a:xfrm>
          <a:prstGeom prst="rect">
            <a:avLst/>
          </a:prstGeom>
        </p:spPr>
      </p:pic>
      <p:sp>
        <p:nvSpPr>
          <p:cNvPr id="20" name="TextBox 19">
            <a:extLst>
              <a:ext uri="{FF2B5EF4-FFF2-40B4-BE49-F238E27FC236}">
                <a16:creationId xmlns:a16="http://schemas.microsoft.com/office/drawing/2014/main" id="{2F78E2F2-63A0-648E-4CEF-B28DCB9E1FE3}"/>
              </a:ext>
            </a:extLst>
          </p:cNvPr>
          <p:cNvSpPr txBox="1"/>
          <p:nvPr/>
        </p:nvSpPr>
        <p:spPr>
          <a:xfrm>
            <a:off x="-71656" y="703160"/>
            <a:ext cx="5558057" cy="5293757"/>
          </a:xfrm>
          <a:prstGeom prst="rect">
            <a:avLst/>
          </a:prstGeom>
          <a:noFill/>
        </p:spPr>
        <p:txBody>
          <a:bodyPr wrap="square">
            <a:spAutoFit/>
          </a:bodyPr>
          <a:lstStyle/>
          <a:p>
            <a:pPr lvl="0"/>
            <a:r>
              <a:rPr lang="en-US" b="1" dirty="0"/>
              <a:t>Edit if Data is Incorrect or Missing</a:t>
            </a:r>
          </a:p>
          <a:p>
            <a:pPr lvl="1"/>
            <a:r>
              <a:rPr lang="en-US" dirty="0"/>
              <a:t>If the extracted data is incorrect or incomplete, click the EDIT button to manually enter correct details.</a:t>
            </a:r>
          </a:p>
          <a:p>
            <a:pPr lvl="0"/>
            <a:r>
              <a:rPr lang="en-US" b="1" dirty="0"/>
              <a:t>Enter Valid Remarks</a:t>
            </a:r>
          </a:p>
          <a:p>
            <a:pPr lvl="1"/>
            <a:r>
              <a:rPr lang="en-US" dirty="0"/>
              <a:t>Add notes in the Remarks field — especially important for expired documents, mismatches, or missing values.</a:t>
            </a:r>
            <a:endParaRPr lang="en-US" sz="1600" dirty="0"/>
          </a:p>
          <a:p>
            <a:pPr lvl="0"/>
            <a:r>
              <a:rPr lang="en-US" b="1" dirty="0"/>
              <a:t>Preview Uploaded Images</a:t>
            </a:r>
          </a:p>
          <a:p>
            <a:pPr lvl="1"/>
            <a:r>
              <a:rPr lang="en-US" dirty="0"/>
              <a:t>Uploaded images will be shown in preview boxes for user confirmation.</a:t>
            </a:r>
            <a:endParaRPr lang="en-US" sz="1600" dirty="0"/>
          </a:p>
          <a:p>
            <a:pPr lvl="1"/>
            <a:endParaRPr lang="en-US" sz="1600" dirty="0"/>
          </a:p>
          <a:p>
            <a:r>
              <a:rPr lang="en-US" b="1" dirty="0">
                <a:highlight>
                  <a:srgbClr val="FFFF00"/>
                </a:highlight>
              </a:rPr>
              <a:t>Advantages of Vehicle Details Page :</a:t>
            </a:r>
          </a:p>
          <a:p>
            <a:endParaRPr lang="en-US" b="1" dirty="0"/>
          </a:p>
          <a:p>
            <a:pPr marL="285750" lvl="0" indent="-285750">
              <a:buFont typeface="Arial" panose="020B0604020202020204" pitchFamily="34" charset="0"/>
              <a:buChar char="•"/>
            </a:pPr>
            <a:r>
              <a:rPr lang="en-US" dirty="0"/>
              <a:t>Ensures only vehicles with valid documents.</a:t>
            </a:r>
            <a:endParaRPr lang="en-US" sz="1400" dirty="0"/>
          </a:p>
          <a:p>
            <a:pPr marL="285750" lvl="0" indent="-285750">
              <a:buFont typeface="Arial" panose="020B0604020202020204" pitchFamily="34" charset="0"/>
              <a:buChar char="•"/>
            </a:pPr>
            <a:r>
              <a:rPr lang="en-US" dirty="0"/>
              <a:t>Streamlines document capture using OCR and image uploads.</a:t>
            </a:r>
            <a:endParaRPr lang="en-US" sz="1400" dirty="0"/>
          </a:p>
          <a:p>
            <a:pPr marL="285750" lvl="0" indent="-285750">
              <a:buFont typeface="Arial" panose="020B0604020202020204" pitchFamily="34" charset="0"/>
              <a:buChar char="•"/>
            </a:pPr>
            <a:r>
              <a:rPr lang="en-US" dirty="0"/>
              <a:t>Allows manual override when OCR fails.</a:t>
            </a:r>
            <a:endParaRPr lang="en-US" sz="1400" dirty="0"/>
          </a:p>
          <a:p>
            <a:pPr marL="285750" lvl="0" indent="-285750">
              <a:buFont typeface="Arial" panose="020B0604020202020204" pitchFamily="34" charset="0"/>
              <a:buChar char="•"/>
            </a:pPr>
            <a:r>
              <a:rPr lang="en-US" dirty="0"/>
              <a:t>Enables complete digital traceability.</a:t>
            </a:r>
            <a:endParaRPr lang="en-US" sz="1400" dirty="0"/>
          </a:p>
          <a:p>
            <a:pPr lvl="1"/>
            <a:endParaRPr lang="en-US" sz="1600" dirty="0"/>
          </a:p>
        </p:txBody>
      </p:sp>
      <p:grpSp>
        <p:nvGrpSpPr>
          <p:cNvPr id="3" name="Group 2">
            <a:extLst>
              <a:ext uri="{FF2B5EF4-FFF2-40B4-BE49-F238E27FC236}">
                <a16:creationId xmlns:a16="http://schemas.microsoft.com/office/drawing/2014/main" id="{3F7FEF3C-6802-5C51-74E0-9B92766BDE58}"/>
              </a:ext>
            </a:extLst>
          </p:cNvPr>
          <p:cNvGrpSpPr>
            <a:grpSpLocks/>
          </p:cNvGrpSpPr>
          <p:nvPr/>
        </p:nvGrpSpPr>
        <p:grpSpPr>
          <a:xfrm>
            <a:off x="5486401" y="0"/>
            <a:ext cx="5449904" cy="6739044"/>
            <a:chOff x="0" y="0"/>
            <a:chExt cx="3582670" cy="3743259"/>
          </a:xfrm>
        </p:grpSpPr>
        <p:pic>
          <p:nvPicPr>
            <p:cNvPr id="4" name="Image 61">
              <a:extLst>
                <a:ext uri="{FF2B5EF4-FFF2-40B4-BE49-F238E27FC236}">
                  <a16:creationId xmlns:a16="http://schemas.microsoft.com/office/drawing/2014/main" id="{6D72A310-AEE6-EEB3-DA26-248C0BC68CB1}"/>
                </a:ext>
              </a:extLst>
            </p:cNvPr>
            <p:cNvPicPr/>
            <p:nvPr/>
          </p:nvPicPr>
          <p:blipFill>
            <a:blip r:embed="rId3" cstate="print"/>
            <a:stretch>
              <a:fillRect/>
            </a:stretch>
          </p:blipFill>
          <p:spPr>
            <a:xfrm>
              <a:off x="0" y="0"/>
              <a:ext cx="1802764" cy="3743259"/>
            </a:xfrm>
            <a:prstGeom prst="rect">
              <a:avLst/>
            </a:prstGeom>
          </p:spPr>
        </p:pic>
        <p:pic>
          <p:nvPicPr>
            <p:cNvPr id="6" name="Image 62">
              <a:extLst>
                <a:ext uri="{FF2B5EF4-FFF2-40B4-BE49-F238E27FC236}">
                  <a16:creationId xmlns:a16="http://schemas.microsoft.com/office/drawing/2014/main" id="{DEDF3164-5390-FFA5-FFEE-B13C670DDCC5}"/>
                </a:ext>
              </a:extLst>
            </p:cNvPr>
            <p:cNvPicPr/>
            <p:nvPr/>
          </p:nvPicPr>
          <p:blipFill>
            <a:blip r:embed="rId4" cstate="print"/>
            <a:stretch>
              <a:fillRect/>
            </a:stretch>
          </p:blipFill>
          <p:spPr>
            <a:xfrm>
              <a:off x="1809750" y="41590"/>
              <a:ext cx="1772920" cy="3701288"/>
            </a:xfrm>
            <a:prstGeom prst="rect">
              <a:avLst/>
            </a:prstGeom>
          </p:spPr>
        </p:pic>
      </p:grpSp>
      <p:pic>
        <p:nvPicPr>
          <p:cNvPr id="2" name="Picture 1">
            <a:extLst>
              <a:ext uri="{FF2B5EF4-FFF2-40B4-BE49-F238E27FC236}">
                <a16:creationId xmlns:a16="http://schemas.microsoft.com/office/drawing/2014/main" id="{98D1DF08-0514-4FB6-705F-970B73D9324A}"/>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10501603" y="0"/>
            <a:ext cx="1690397" cy="685490"/>
          </a:xfrm>
          <a:prstGeom prst="rect">
            <a:avLst/>
          </a:prstGeom>
        </p:spPr>
      </p:pic>
    </p:spTree>
    <p:extLst>
      <p:ext uri="{BB962C8B-B14F-4D97-AF65-F5344CB8AC3E}">
        <p14:creationId xmlns:p14="http://schemas.microsoft.com/office/powerpoint/2010/main" val="37501629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CAC4B-0775-58AC-8045-6E3E0057FC66}"/>
            </a:ext>
          </a:extLst>
        </p:cNvPr>
        <p:cNvGrpSpPr/>
        <p:nvPr/>
      </p:nvGrpSpPr>
      <p:grpSpPr>
        <a:xfrm>
          <a:off x="0" y="0"/>
          <a:ext cx="0" cy="0"/>
          <a:chOff x="0" y="0"/>
          <a:chExt cx="0" cy="0"/>
        </a:xfrm>
      </p:grpSpPr>
      <p:grpSp>
        <p:nvGrpSpPr>
          <p:cNvPr id="2" name="Group 1">
            <a:extLst>
              <a:ext uri="{FF2B5EF4-FFF2-40B4-BE49-F238E27FC236}">
                <a16:creationId xmlns:a16="http://schemas.microsoft.com/office/drawing/2014/main" id="{3EE501AD-ABA7-5643-C990-88EB72C3E228}"/>
              </a:ext>
            </a:extLst>
          </p:cNvPr>
          <p:cNvGrpSpPr>
            <a:grpSpLocks/>
          </p:cNvGrpSpPr>
          <p:nvPr/>
        </p:nvGrpSpPr>
        <p:grpSpPr>
          <a:xfrm>
            <a:off x="5486401" y="0"/>
            <a:ext cx="5449904" cy="6739044"/>
            <a:chOff x="0" y="0"/>
            <a:chExt cx="3582670" cy="3743259"/>
          </a:xfrm>
        </p:grpSpPr>
        <p:pic>
          <p:nvPicPr>
            <p:cNvPr id="3" name="Image 61">
              <a:extLst>
                <a:ext uri="{FF2B5EF4-FFF2-40B4-BE49-F238E27FC236}">
                  <a16:creationId xmlns:a16="http://schemas.microsoft.com/office/drawing/2014/main" id="{8A4C4E76-F1CD-0D17-815D-18FE59E1C258}"/>
                </a:ext>
              </a:extLst>
            </p:cNvPr>
            <p:cNvPicPr/>
            <p:nvPr/>
          </p:nvPicPr>
          <p:blipFill>
            <a:blip r:embed="rId2" cstate="print"/>
            <a:stretch>
              <a:fillRect/>
            </a:stretch>
          </p:blipFill>
          <p:spPr>
            <a:xfrm>
              <a:off x="0" y="0"/>
              <a:ext cx="1802764" cy="3743259"/>
            </a:xfrm>
            <a:prstGeom prst="rect">
              <a:avLst/>
            </a:prstGeom>
          </p:spPr>
        </p:pic>
        <p:pic>
          <p:nvPicPr>
            <p:cNvPr id="4" name="Image 62">
              <a:extLst>
                <a:ext uri="{FF2B5EF4-FFF2-40B4-BE49-F238E27FC236}">
                  <a16:creationId xmlns:a16="http://schemas.microsoft.com/office/drawing/2014/main" id="{BF62B090-F655-05D5-316D-B384C9ED7ED5}"/>
                </a:ext>
              </a:extLst>
            </p:cNvPr>
            <p:cNvPicPr/>
            <p:nvPr/>
          </p:nvPicPr>
          <p:blipFill>
            <a:blip r:embed="rId3" cstate="print"/>
            <a:stretch>
              <a:fillRect/>
            </a:stretch>
          </p:blipFill>
          <p:spPr>
            <a:xfrm>
              <a:off x="1809750" y="41590"/>
              <a:ext cx="1772920" cy="3701288"/>
            </a:xfrm>
            <a:prstGeom prst="rect">
              <a:avLst/>
            </a:prstGeom>
          </p:spPr>
        </p:pic>
      </p:grpSp>
      <p:sp>
        <p:nvSpPr>
          <p:cNvPr id="5" name="TextBox 4"/>
          <p:cNvSpPr txBox="1"/>
          <p:nvPr/>
        </p:nvSpPr>
        <p:spPr>
          <a:xfrm>
            <a:off x="1" y="193964"/>
            <a:ext cx="5475774" cy="6463308"/>
          </a:xfrm>
          <a:prstGeom prst="rect">
            <a:avLst/>
          </a:prstGeom>
          <a:noFill/>
        </p:spPr>
        <p:txBody>
          <a:bodyPr wrap="square" rtlCol="0">
            <a:spAutoFit/>
          </a:bodyPr>
          <a:lstStyle/>
          <a:p>
            <a:pPr marL="285750" indent="-285750">
              <a:buFont typeface="Arial" panose="020B0604020202020204" pitchFamily="34" charset="0"/>
              <a:buChar char="•"/>
            </a:pPr>
            <a:r>
              <a:rPr lang="hi-IN" b="1" dirty="0" smtClean="0"/>
              <a:t>माहिती </a:t>
            </a:r>
            <a:r>
              <a:rPr lang="hi-IN" b="1" dirty="0"/>
              <a:t>चुकीची किंवा अपूर्ण असल्यास संपादन </a:t>
            </a:r>
            <a:r>
              <a:rPr lang="hi-IN" b="1" dirty="0" smtClean="0"/>
              <a:t>करा</a:t>
            </a:r>
            <a:r>
              <a:rPr lang="hi-IN" dirty="0"/>
              <a:t/>
            </a:r>
            <a:br>
              <a:rPr lang="hi-IN" dirty="0"/>
            </a:br>
            <a:r>
              <a:rPr lang="hi-IN" dirty="0"/>
              <a:t>जर </a:t>
            </a:r>
            <a:r>
              <a:rPr lang="en-IN" dirty="0"/>
              <a:t>OCR </a:t>
            </a:r>
            <a:r>
              <a:rPr lang="hi-IN" dirty="0"/>
              <a:t>द्वारे मिळालेली माहिती चुकीची किंवा अपूर्ण असेल, तर </a:t>
            </a:r>
            <a:r>
              <a:rPr lang="en-IN" dirty="0"/>
              <a:t>EDIT </a:t>
            </a:r>
            <a:r>
              <a:rPr lang="hi-IN" dirty="0"/>
              <a:t>बटणावर क्लिक करून योग्य माहिती मॅन्युअली प्रविष्ट करा</a:t>
            </a:r>
            <a:r>
              <a:rPr lang="hi-IN" dirty="0" smtClean="0"/>
              <a:t>.</a:t>
            </a:r>
            <a:endParaRPr lang="en-US" dirty="0" smtClean="0"/>
          </a:p>
          <a:p>
            <a:pPr marL="285750" indent="-285750">
              <a:buFont typeface="Arial" panose="020B0604020202020204" pitchFamily="34" charset="0"/>
              <a:buChar char="•"/>
            </a:pPr>
            <a:endParaRPr lang="hi-IN" dirty="0"/>
          </a:p>
          <a:p>
            <a:pPr marL="285750" indent="-285750">
              <a:buFont typeface="Arial" panose="020B0604020202020204" pitchFamily="34" charset="0"/>
              <a:buChar char="•"/>
            </a:pPr>
            <a:r>
              <a:rPr lang="hi-IN" b="1" dirty="0" smtClean="0"/>
              <a:t>योग्य </a:t>
            </a:r>
            <a:r>
              <a:rPr lang="hi-IN" b="1" dirty="0"/>
              <a:t>टीप/</a:t>
            </a:r>
            <a:r>
              <a:rPr lang="en-IN" b="1" dirty="0"/>
              <a:t>Remarks </a:t>
            </a:r>
            <a:r>
              <a:rPr lang="hi-IN" b="1" dirty="0"/>
              <a:t>प्रविष्ट </a:t>
            </a:r>
            <a:r>
              <a:rPr lang="hi-IN" b="1" dirty="0" smtClean="0"/>
              <a:t>करा</a:t>
            </a:r>
            <a:r>
              <a:rPr lang="hi-IN" dirty="0"/>
              <a:t/>
            </a:r>
            <a:br>
              <a:rPr lang="hi-IN" dirty="0"/>
            </a:br>
            <a:r>
              <a:rPr lang="en-IN" dirty="0"/>
              <a:t>Remarks </a:t>
            </a:r>
            <a:r>
              <a:rPr lang="hi-IN" dirty="0"/>
              <a:t>फील्डमध्ये आवश्यक नोंदी करा — विशेषतः दस्तऐवज कालबाह्य असल्यास, माहिती जुळत नसल्यास किंवा काही मूल्ये उपलब्ध नसल्यास</a:t>
            </a:r>
            <a:r>
              <a:rPr lang="hi-IN" dirty="0" smtClean="0"/>
              <a:t>.</a:t>
            </a:r>
            <a:endParaRPr lang="en-US" dirty="0" smtClean="0"/>
          </a:p>
          <a:p>
            <a:pPr marL="285750" indent="-285750">
              <a:buFont typeface="Arial" panose="020B0604020202020204" pitchFamily="34" charset="0"/>
              <a:buChar char="•"/>
            </a:pPr>
            <a:endParaRPr lang="hi-IN" dirty="0"/>
          </a:p>
          <a:p>
            <a:pPr marL="285750" indent="-285750">
              <a:buFont typeface="Arial" panose="020B0604020202020204" pitchFamily="34" charset="0"/>
              <a:buChar char="•"/>
            </a:pPr>
            <a:r>
              <a:rPr lang="hi-IN" b="1" dirty="0" smtClean="0"/>
              <a:t>अपलोड </a:t>
            </a:r>
            <a:r>
              <a:rPr lang="hi-IN" b="1" dirty="0"/>
              <a:t>केलेल्या प्रतिमांचे </a:t>
            </a:r>
            <a:r>
              <a:rPr lang="hi-IN" b="1" dirty="0" smtClean="0"/>
              <a:t>पूर्वावलोकन</a:t>
            </a:r>
            <a:r>
              <a:rPr lang="hi-IN" dirty="0"/>
              <a:t/>
            </a:r>
            <a:br>
              <a:rPr lang="hi-IN" dirty="0"/>
            </a:br>
            <a:r>
              <a:rPr lang="hi-IN" dirty="0"/>
              <a:t>अपलोड केलेल्या प्रतिमा वापरकर्त्याच्या पुष्टीसाठी प्रीव्ह्यू बॉक्समध्ये दर्शविल्या जातील.</a:t>
            </a:r>
          </a:p>
          <a:p>
            <a:endParaRPr lang="en-US" dirty="0" smtClean="0"/>
          </a:p>
          <a:p>
            <a:pPr marL="285750" indent="-285750">
              <a:buFont typeface="Arial" panose="020B0604020202020204" pitchFamily="34" charset="0"/>
              <a:buChar char="•"/>
            </a:pPr>
            <a:r>
              <a:rPr lang="en-IN" b="1" dirty="0" smtClean="0"/>
              <a:t>(</a:t>
            </a:r>
            <a:r>
              <a:rPr lang="en-IN" b="1" dirty="0"/>
              <a:t>Vehicle Details Page </a:t>
            </a:r>
            <a:r>
              <a:rPr lang="hi-IN" b="1" dirty="0"/>
              <a:t>चे फायदे):</a:t>
            </a:r>
            <a:endParaRPr lang="hi-IN" dirty="0"/>
          </a:p>
          <a:p>
            <a:pPr marL="285750" indent="-285750">
              <a:buFont typeface="Arial" panose="020B0604020202020204" pitchFamily="34" charset="0"/>
              <a:buChar char="•"/>
            </a:pPr>
            <a:r>
              <a:rPr lang="hi-IN" dirty="0"/>
              <a:t>केवळ वैध दस्तऐवज असलेल्या वाहनांना प्रवेश सुनिश्चित करतो.</a:t>
            </a:r>
          </a:p>
          <a:p>
            <a:pPr marL="285750" indent="-285750">
              <a:buFont typeface="Arial" panose="020B0604020202020204" pitchFamily="34" charset="0"/>
              <a:buChar char="•"/>
            </a:pPr>
            <a:r>
              <a:rPr lang="en-IN" dirty="0"/>
              <a:t>OCR </a:t>
            </a:r>
            <a:r>
              <a:rPr lang="hi-IN" dirty="0"/>
              <a:t>आणि प्रतिमा अपलोडच्या मदतीने दस्तऐवज कॅप्चर प्रक्रिया सोपी होते.</a:t>
            </a:r>
          </a:p>
          <a:p>
            <a:pPr marL="285750" indent="-285750">
              <a:buFont typeface="Arial" panose="020B0604020202020204" pitchFamily="34" charset="0"/>
              <a:buChar char="•"/>
            </a:pPr>
            <a:r>
              <a:rPr lang="en-IN" dirty="0"/>
              <a:t>OCR </a:t>
            </a:r>
            <a:r>
              <a:rPr lang="hi-IN" dirty="0"/>
              <a:t>ने माहिती योग्यरीत्या न मिळाल्यास मॅन्युअल एडिट करण्याची सुविधा देते.</a:t>
            </a:r>
          </a:p>
          <a:p>
            <a:pPr marL="285750" indent="-285750">
              <a:buFont typeface="Arial" panose="020B0604020202020204" pitchFamily="34" charset="0"/>
              <a:buChar char="•"/>
            </a:pPr>
            <a:r>
              <a:rPr lang="hi-IN" dirty="0"/>
              <a:t>संपूर्ण डिजिटल ट्रेसिबिलिटी सक्षम करते.</a:t>
            </a:r>
          </a:p>
          <a:p>
            <a:endParaRPr lang="en-IN" dirty="0"/>
          </a:p>
        </p:txBody>
      </p:sp>
    </p:spTree>
    <p:extLst>
      <p:ext uri="{BB962C8B-B14F-4D97-AF65-F5344CB8AC3E}">
        <p14:creationId xmlns:p14="http://schemas.microsoft.com/office/powerpoint/2010/main" val="5034248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A4F5F41-26D3-AA69-5127-3F6E87DBCA91}"/>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501603" y="0"/>
            <a:ext cx="1690397" cy="685490"/>
          </a:xfrm>
          <a:prstGeom prst="rect">
            <a:avLst/>
          </a:prstGeom>
        </p:spPr>
      </p:pic>
      <p:pic>
        <p:nvPicPr>
          <p:cNvPr id="5" name="Picture 4">
            <a:extLst>
              <a:ext uri="{FF2B5EF4-FFF2-40B4-BE49-F238E27FC236}">
                <a16:creationId xmlns:a16="http://schemas.microsoft.com/office/drawing/2014/main" id="{C174403C-A0C6-F2EB-7595-9188EEF78B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81212" cy="685896"/>
          </a:xfrm>
          <a:prstGeom prst="rect">
            <a:avLst/>
          </a:prstGeom>
        </p:spPr>
      </p:pic>
      <p:pic>
        <p:nvPicPr>
          <p:cNvPr id="11" name="Picture 10">
            <a:extLst>
              <a:ext uri="{FF2B5EF4-FFF2-40B4-BE49-F238E27FC236}">
                <a16:creationId xmlns:a16="http://schemas.microsoft.com/office/drawing/2014/main" id="{4374A3AA-64A9-4860-8689-E43F39569AF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0"/>
            <a:ext cx="4376261" cy="6858000"/>
          </a:xfrm>
          <a:prstGeom prst="rect">
            <a:avLst/>
          </a:prstGeom>
        </p:spPr>
      </p:pic>
      <p:sp>
        <p:nvSpPr>
          <p:cNvPr id="7" name="TextBox 6">
            <a:extLst>
              <a:ext uri="{FF2B5EF4-FFF2-40B4-BE49-F238E27FC236}">
                <a16:creationId xmlns:a16="http://schemas.microsoft.com/office/drawing/2014/main" id="{89E5F4AC-1A68-F2E1-4CC0-F94E4B5C72D5}"/>
              </a:ext>
            </a:extLst>
          </p:cNvPr>
          <p:cNvSpPr txBox="1"/>
          <p:nvPr/>
        </p:nvSpPr>
        <p:spPr>
          <a:xfrm>
            <a:off x="222622" y="992733"/>
            <a:ext cx="5417890" cy="4247317"/>
          </a:xfrm>
          <a:prstGeom prst="rect">
            <a:avLst/>
          </a:prstGeom>
          <a:noFill/>
        </p:spPr>
        <p:txBody>
          <a:bodyPr wrap="square">
            <a:spAutoFit/>
          </a:bodyPr>
          <a:lstStyle/>
          <a:p>
            <a:r>
              <a:rPr lang="en-US" b="1" dirty="0"/>
              <a:t>Vehicle data exists:</a:t>
            </a:r>
          </a:p>
          <a:p>
            <a:endParaRPr lang="en-US" dirty="0"/>
          </a:p>
          <a:p>
            <a:r>
              <a:rPr lang="en-US" dirty="0"/>
              <a:t>If the vehicle already exists in the system, the application will automatically retrieve and display the previously entered data (Green). The user can review and verify these details for accuracy. Additionally, the system will highlight any document validity errors (such as expired certificates), enabling the user to take corrective action before proceeding further(Red).</a:t>
            </a:r>
          </a:p>
          <a:p>
            <a:endParaRPr lang="en-US" dirty="0"/>
          </a:p>
          <a:p>
            <a:endParaRPr lang="en-US" dirty="0"/>
          </a:p>
          <a:p>
            <a:r>
              <a:rPr lang="en-US" dirty="0"/>
              <a:t>Once the details have been confirmed, the user can enter any necessary remarks in the provided field. After completing this step, the user should click the Next Page button to continue with the process.</a:t>
            </a:r>
          </a:p>
        </p:txBody>
      </p:sp>
    </p:spTree>
    <p:extLst>
      <p:ext uri="{BB962C8B-B14F-4D97-AF65-F5344CB8AC3E}">
        <p14:creationId xmlns:p14="http://schemas.microsoft.com/office/powerpoint/2010/main" val="31758233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2CEB7-A758-B6D8-89A8-13CBD9694DE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FF6D7E2-1680-6FF1-6EC2-FDFBC7F782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0"/>
            <a:ext cx="4376261" cy="6858000"/>
          </a:xfrm>
          <a:prstGeom prst="rect">
            <a:avLst/>
          </a:prstGeom>
        </p:spPr>
      </p:pic>
      <p:sp>
        <p:nvSpPr>
          <p:cNvPr id="2" name="TextBox 1"/>
          <p:cNvSpPr txBox="1"/>
          <p:nvPr/>
        </p:nvSpPr>
        <p:spPr>
          <a:xfrm>
            <a:off x="138545" y="401782"/>
            <a:ext cx="5777346" cy="4524315"/>
          </a:xfrm>
          <a:prstGeom prst="rect">
            <a:avLst/>
          </a:prstGeom>
          <a:noFill/>
        </p:spPr>
        <p:txBody>
          <a:bodyPr wrap="square" rtlCol="0">
            <a:spAutoFit/>
          </a:bodyPr>
          <a:lstStyle/>
          <a:p>
            <a:r>
              <a:rPr lang="en-IN" b="1" dirty="0"/>
              <a:t>Vehicle data exists</a:t>
            </a:r>
            <a:r>
              <a:rPr lang="en-IN" b="1" dirty="0" smtClean="0"/>
              <a:t>:</a:t>
            </a:r>
            <a:endParaRPr lang="en-IN" b="1" dirty="0"/>
          </a:p>
          <a:p>
            <a:r>
              <a:rPr lang="en-IN" b="1" dirty="0"/>
              <a:t>(</a:t>
            </a:r>
            <a:r>
              <a:rPr lang="hi-IN" b="1" dirty="0"/>
              <a:t>वाहनाची माहिती आधीपासून अस्तित्वात असल्यास</a:t>
            </a:r>
            <a:r>
              <a:rPr lang="hi-IN" b="1" dirty="0" smtClean="0"/>
              <a:t>):</a:t>
            </a:r>
            <a:endParaRPr lang="en-US" b="1" dirty="0" smtClean="0"/>
          </a:p>
          <a:p>
            <a:endParaRPr lang="hi-IN" dirty="0"/>
          </a:p>
          <a:p>
            <a:r>
              <a:rPr lang="hi-IN" dirty="0"/>
              <a:t>जर वाहनाची माहिती सिस्टममध्ये आधीच उपलब्ध असेल, तर अ‍ॅप्लिकेशन पूर्वी प्रविष्ट केलेली सर्व माहिती (हिरव्या रंगात) आपोआप प्राप्त करून दर्शवेल. वापरकर्ता ही माहिती तपासून तिची अचूकता सुनिश्चित करू शकतो.</a:t>
            </a:r>
          </a:p>
          <a:p>
            <a:r>
              <a:rPr lang="hi-IN" dirty="0"/>
              <a:t>याशिवाय, प्रणाली कोणत्याही दस्तऐवजाशी संबंधित वैधता त्रुटी — जसे की कालबाह्य प्रमाणपत्रे — (लाल रंगात) दर्शवेल, ज्यामुळे पुढील प्रक्रिया सुरू करण्यापूर्वी वापरकर्त्यास आवश्यक दुरुस्ती करता येईल.</a:t>
            </a:r>
          </a:p>
          <a:p>
            <a:endParaRPr lang="en-US" dirty="0" smtClean="0"/>
          </a:p>
          <a:p>
            <a:r>
              <a:rPr lang="hi-IN" dirty="0"/>
              <a:t>सर्व तपशील अचूकरीत्या तपासल्यानंतर, वापरकर्त्याने उपलब्ध </a:t>
            </a:r>
            <a:r>
              <a:rPr lang="en-IN" dirty="0"/>
              <a:t>Remarks </a:t>
            </a:r>
            <a:r>
              <a:rPr lang="hi-IN" dirty="0"/>
              <a:t>फील्डमध्ये आवश्यक नोंदी प्रविष्ट कराव्यात.</a:t>
            </a:r>
            <a:br>
              <a:rPr lang="hi-IN" dirty="0"/>
            </a:br>
            <a:r>
              <a:rPr lang="hi-IN" dirty="0"/>
              <a:t>ही पायरी पूर्ण झाल्यावर, पुढील प्रक्रिया सुरू करण्यासाठी </a:t>
            </a:r>
            <a:r>
              <a:rPr lang="en-IN" dirty="0"/>
              <a:t>Next Page </a:t>
            </a:r>
            <a:r>
              <a:rPr lang="hi-IN" dirty="0"/>
              <a:t>बटणावर क्लिक करा.</a:t>
            </a:r>
            <a:endParaRPr lang="en-IN" dirty="0"/>
          </a:p>
        </p:txBody>
      </p:sp>
    </p:spTree>
    <p:extLst>
      <p:ext uri="{BB962C8B-B14F-4D97-AF65-F5344CB8AC3E}">
        <p14:creationId xmlns:p14="http://schemas.microsoft.com/office/powerpoint/2010/main" val="18396972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0A265-AD28-E615-6D52-A4D5826CCB2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D8D9FE-6264-ED04-7E3A-6F816C19F2C3}"/>
              </a:ext>
            </a:extLst>
          </p:cNvPr>
          <p:cNvSpPr txBox="1"/>
          <p:nvPr/>
        </p:nvSpPr>
        <p:spPr>
          <a:xfrm>
            <a:off x="168242" y="984513"/>
            <a:ext cx="3159177" cy="523220"/>
          </a:xfrm>
          <a:prstGeom prst="rect">
            <a:avLst/>
          </a:prstGeom>
          <a:noFill/>
        </p:spPr>
        <p:txBody>
          <a:bodyPr wrap="square">
            <a:spAutoFit/>
          </a:bodyPr>
          <a:lstStyle/>
          <a:p>
            <a:r>
              <a:rPr lang="en-GB" sz="2800" dirty="0">
                <a:latin typeface="Times New Roman" panose="02020603050405020304" pitchFamily="18" charset="0"/>
                <a:ea typeface="+mj-ea"/>
                <a:cs typeface="Times New Roman" panose="02020603050405020304" pitchFamily="18" charset="0"/>
              </a:rPr>
              <a:t>Driver Details Page</a:t>
            </a:r>
            <a:endParaRPr lang="en-IN" sz="2800" dirty="0">
              <a:latin typeface="Times New Roman" panose="02020603050405020304" pitchFamily="18" charset="0"/>
              <a:ea typeface="+mj-ea"/>
              <a:cs typeface="Times New Roman" panose="02020603050405020304" pitchFamily="18" charset="0"/>
            </a:endParaRPr>
          </a:p>
        </p:txBody>
      </p:sp>
      <p:pic>
        <p:nvPicPr>
          <p:cNvPr id="4" name="Picture 3">
            <a:extLst>
              <a:ext uri="{FF2B5EF4-FFF2-40B4-BE49-F238E27FC236}">
                <a16:creationId xmlns:a16="http://schemas.microsoft.com/office/drawing/2014/main" id="{E357361F-C177-2251-DD71-B71DCC7880C8}"/>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501603" y="0"/>
            <a:ext cx="1690397" cy="685490"/>
          </a:xfrm>
          <a:prstGeom prst="rect">
            <a:avLst/>
          </a:prstGeom>
        </p:spPr>
      </p:pic>
      <p:pic>
        <p:nvPicPr>
          <p:cNvPr id="5" name="Picture 4">
            <a:extLst>
              <a:ext uri="{FF2B5EF4-FFF2-40B4-BE49-F238E27FC236}">
                <a16:creationId xmlns:a16="http://schemas.microsoft.com/office/drawing/2014/main" id="{4EFC5221-5767-96A0-F541-252A4BD389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81212" cy="685896"/>
          </a:xfrm>
          <a:prstGeom prst="rect">
            <a:avLst/>
          </a:prstGeom>
        </p:spPr>
      </p:pic>
      <p:pic>
        <p:nvPicPr>
          <p:cNvPr id="15" name="Picture 14">
            <a:extLst>
              <a:ext uri="{FF2B5EF4-FFF2-40B4-BE49-F238E27FC236}">
                <a16:creationId xmlns:a16="http://schemas.microsoft.com/office/drawing/2014/main" id="{D76762EE-8BCB-E1CD-95BF-D1BBA1154F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09699" y="0"/>
            <a:ext cx="4334470" cy="6858000"/>
          </a:xfrm>
          <a:prstGeom prst="rect">
            <a:avLst/>
          </a:prstGeom>
        </p:spPr>
      </p:pic>
      <p:sp>
        <p:nvSpPr>
          <p:cNvPr id="6" name="TextBox 5">
            <a:extLst>
              <a:ext uri="{FF2B5EF4-FFF2-40B4-BE49-F238E27FC236}">
                <a16:creationId xmlns:a16="http://schemas.microsoft.com/office/drawing/2014/main" id="{333457E3-5B20-474D-4659-E2242D71BBA2}"/>
              </a:ext>
            </a:extLst>
          </p:cNvPr>
          <p:cNvSpPr txBox="1"/>
          <p:nvPr/>
        </p:nvSpPr>
        <p:spPr>
          <a:xfrm>
            <a:off x="168242" y="1631023"/>
            <a:ext cx="6097712" cy="3416320"/>
          </a:xfrm>
          <a:prstGeom prst="rect">
            <a:avLst/>
          </a:prstGeom>
          <a:noFill/>
        </p:spPr>
        <p:txBody>
          <a:bodyPr wrap="square">
            <a:spAutoFit/>
          </a:bodyPr>
          <a:lstStyle/>
          <a:p>
            <a:r>
              <a:rPr lang="en-US" dirty="0"/>
              <a:t>If the driver’s details already exist in the system:</a:t>
            </a:r>
          </a:p>
          <a:p>
            <a:r>
              <a:rPr lang="en-US" dirty="0"/>
              <a:t/>
            </a:r>
            <a:br>
              <a:rPr lang="en-US" dirty="0"/>
            </a:br>
            <a:r>
              <a:rPr lang="en-US" dirty="0"/>
              <a:t>All available information will be automatically fetched and displayed on the screen. Valid details are highlighted (Green), </a:t>
            </a:r>
          </a:p>
          <a:p>
            <a:endParaRPr lang="en-US" dirty="0"/>
          </a:p>
          <a:p>
            <a:r>
              <a:rPr lang="en-US" dirty="0"/>
              <a:t>While any mismatched or expired documents are highlighted in (Red). </a:t>
            </a:r>
          </a:p>
          <a:p>
            <a:endParaRPr lang="en-US" dirty="0"/>
          </a:p>
          <a:p>
            <a:r>
              <a:rPr lang="en-US" dirty="0"/>
              <a:t>The user must review these invalid entries, make corrections if required, and then submit the data.</a:t>
            </a:r>
            <a:br>
              <a:rPr lang="en-US" dirty="0"/>
            </a:br>
            <a:r>
              <a:rPr lang="en-US" dirty="0"/>
              <a:t/>
            </a:r>
            <a:br>
              <a:rPr lang="en-US" dirty="0"/>
            </a:br>
            <a:endParaRPr lang="en-US" dirty="0"/>
          </a:p>
        </p:txBody>
      </p:sp>
    </p:spTree>
    <p:extLst>
      <p:ext uri="{BB962C8B-B14F-4D97-AF65-F5344CB8AC3E}">
        <p14:creationId xmlns:p14="http://schemas.microsoft.com/office/powerpoint/2010/main" val="38510532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07B4CC-F928-9DE3-9F82-F072291A2250}"/>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6E5BFEE-503F-7010-99CB-456251CE46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09699" y="0"/>
            <a:ext cx="4334470" cy="6858000"/>
          </a:xfrm>
          <a:prstGeom prst="rect">
            <a:avLst/>
          </a:prstGeom>
        </p:spPr>
      </p:pic>
      <p:sp>
        <p:nvSpPr>
          <p:cNvPr id="2" name="TextBox 1"/>
          <p:cNvSpPr txBox="1"/>
          <p:nvPr/>
        </p:nvSpPr>
        <p:spPr>
          <a:xfrm>
            <a:off x="304800" y="484909"/>
            <a:ext cx="5167745" cy="369332"/>
          </a:xfrm>
          <a:prstGeom prst="rect">
            <a:avLst/>
          </a:prstGeom>
          <a:noFill/>
        </p:spPr>
        <p:txBody>
          <a:bodyPr wrap="square" rtlCol="0">
            <a:spAutoFit/>
          </a:bodyPr>
          <a:lstStyle/>
          <a:p>
            <a:r>
              <a:rPr lang="en-IN" b="1" dirty="0"/>
              <a:t>Driver Details Page (</a:t>
            </a:r>
            <a:r>
              <a:rPr lang="hi-IN" b="1" dirty="0"/>
              <a:t>चालक तपशील पृष्ठ</a:t>
            </a:r>
            <a:r>
              <a:rPr lang="hi-IN" b="1" dirty="0" smtClean="0"/>
              <a:t>)</a:t>
            </a:r>
            <a:r>
              <a:rPr lang="en-US" b="1" dirty="0" smtClean="0"/>
              <a:t> :</a:t>
            </a:r>
            <a:endParaRPr lang="en-IN" b="1" dirty="0"/>
          </a:p>
        </p:txBody>
      </p:sp>
      <p:sp>
        <p:nvSpPr>
          <p:cNvPr id="3" name="TextBox 2"/>
          <p:cNvSpPr txBox="1"/>
          <p:nvPr/>
        </p:nvSpPr>
        <p:spPr>
          <a:xfrm>
            <a:off x="304800" y="1288473"/>
            <a:ext cx="5403273" cy="4247317"/>
          </a:xfrm>
          <a:prstGeom prst="rect">
            <a:avLst/>
          </a:prstGeom>
          <a:noFill/>
        </p:spPr>
        <p:txBody>
          <a:bodyPr wrap="square" rtlCol="0">
            <a:spAutoFit/>
          </a:bodyPr>
          <a:lstStyle/>
          <a:p>
            <a:r>
              <a:rPr lang="en-IN" dirty="0"/>
              <a:t>If the driver’s details already exist in the system:</a:t>
            </a:r>
          </a:p>
          <a:p>
            <a:r>
              <a:rPr lang="en-IN" dirty="0"/>
              <a:t>(</a:t>
            </a:r>
            <a:r>
              <a:rPr lang="hi-IN" dirty="0"/>
              <a:t>चालकाची माहिती सिस्टममध्ये आधीपासून उपलब्ध असल्यास</a:t>
            </a:r>
            <a:r>
              <a:rPr lang="hi-IN" dirty="0" smtClean="0"/>
              <a:t>):</a:t>
            </a:r>
            <a:endParaRPr lang="en-US" dirty="0" smtClean="0"/>
          </a:p>
          <a:p>
            <a:endParaRPr lang="hi-IN" dirty="0"/>
          </a:p>
          <a:p>
            <a:r>
              <a:rPr lang="hi-IN" dirty="0"/>
              <a:t>सिस्टममध्ये चालकाची माहिती अस्तित्वात असल्यास, उपलब्ध सर्व माहिती आपोआप प्राप्त होऊन स्क्रीनवर दर्शविली जाईल.</a:t>
            </a:r>
            <a:br>
              <a:rPr lang="hi-IN" dirty="0"/>
            </a:br>
            <a:r>
              <a:rPr lang="hi-IN" dirty="0"/>
              <a:t>वैध (योग्य) माहिती हिरव्या रंगात दर्शविली जाईल</a:t>
            </a:r>
            <a:r>
              <a:rPr lang="hi-IN" dirty="0" smtClean="0"/>
              <a:t>,</a:t>
            </a:r>
            <a:endParaRPr lang="en-US" dirty="0" smtClean="0"/>
          </a:p>
          <a:p>
            <a:endParaRPr lang="hi-IN" dirty="0"/>
          </a:p>
          <a:p>
            <a:r>
              <a:rPr lang="hi-IN" dirty="0"/>
              <a:t>तर जुळत नसलेली किंवा कालबाह्य दस्तऐवजांची माहिती लाल रंगात दर्शविली जाईल</a:t>
            </a:r>
            <a:r>
              <a:rPr lang="hi-IN" dirty="0" smtClean="0"/>
              <a:t>.</a:t>
            </a:r>
            <a:endParaRPr lang="en-US" dirty="0" smtClean="0"/>
          </a:p>
          <a:p>
            <a:endParaRPr lang="hi-IN" dirty="0"/>
          </a:p>
          <a:p>
            <a:r>
              <a:rPr lang="hi-IN" dirty="0"/>
              <a:t>वापरकर्त्याने लाल रंगात दर्शविलेल्या अवैध नोंदी काळजीपूर्वक तपासाव्यात, आवश्यक असल्यास दुरुस्त्या कराव्यात आणि नंतर डेटा सबमिट करावा.</a:t>
            </a:r>
          </a:p>
          <a:p>
            <a:endParaRPr lang="en-IN" dirty="0"/>
          </a:p>
        </p:txBody>
      </p:sp>
    </p:spTree>
    <p:extLst>
      <p:ext uri="{BB962C8B-B14F-4D97-AF65-F5344CB8AC3E}">
        <p14:creationId xmlns:p14="http://schemas.microsoft.com/office/powerpoint/2010/main" val="2872110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3B21C-6C9A-18C6-A773-260C9E78D67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D5FE6A4-035F-617F-803D-EF65F94A48E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501603" y="0"/>
            <a:ext cx="1690397" cy="685490"/>
          </a:xfrm>
          <a:prstGeom prst="rect">
            <a:avLst/>
          </a:prstGeom>
        </p:spPr>
      </p:pic>
      <p:pic>
        <p:nvPicPr>
          <p:cNvPr id="5" name="Picture 4">
            <a:extLst>
              <a:ext uri="{FF2B5EF4-FFF2-40B4-BE49-F238E27FC236}">
                <a16:creationId xmlns:a16="http://schemas.microsoft.com/office/drawing/2014/main" id="{28126665-74ED-1400-2DBE-28B940B9B4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81212" cy="685896"/>
          </a:xfrm>
          <a:prstGeom prst="rect">
            <a:avLst/>
          </a:prstGeom>
        </p:spPr>
      </p:pic>
      <p:pic>
        <p:nvPicPr>
          <p:cNvPr id="13" name="Picture 12">
            <a:extLst>
              <a:ext uri="{FF2B5EF4-FFF2-40B4-BE49-F238E27FC236}">
                <a16:creationId xmlns:a16="http://schemas.microsoft.com/office/drawing/2014/main" id="{7DED6F85-0EC2-DC42-79FA-C9E27B84F02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49261" y="0"/>
            <a:ext cx="4452342" cy="6858000"/>
          </a:xfrm>
          <a:prstGeom prst="rect">
            <a:avLst/>
          </a:prstGeom>
        </p:spPr>
      </p:pic>
      <p:sp>
        <p:nvSpPr>
          <p:cNvPr id="7" name="TextBox 6">
            <a:extLst>
              <a:ext uri="{FF2B5EF4-FFF2-40B4-BE49-F238E27FC236}">
                <a16:creationId xmlns:a16="http://schemas.microsoft.com/office/drawing/2014/main" id="{6CCC8BE9-30A9-C719-349C-A10A3E448B5E}"/>
              </a:ext>
            </a:extLst>
          </p:cNvPr>
          <p:cNvSpPr txBox="1"/>
          <p:nvPr/>
        </p:nvSpPr>
        <p:spPr>
          <a:xfrm>
            <a:off x="110447" y="796075"/>
            <a:ext cx="5149922" cy="1754326"/>
          </a:xfrm>
          <a:prstGeom prst="rect">
            <a:avLst/>
          </a:prstGeom>
          <a:noFill/>
        </p:spPr>
        <p:txBody>
          <a:bodyPr wrap="square">
            <a:spAutoFit/>
          </a:bodyPr>
          <a:lstStyle/>
          <a:p>
            <a:r>
              <a:rPr lang="en-US" b="1" dirty="0"/>
              <a:t>If the driver’s details are not available in the system:</a:t>
            </a:r>
          </a:p>
          <a:p>
            <a:endParaRPr lang="en-US" b="1" dirty="0"/>
          </a:p>
          <a:p>
            <a:r>
              <a:rPr lang="en-US" dirty="0"/>
              <a:t>The user must capture and upload the driver’s license. The application will use the OCR function to extract the necessary details from the uploaded document. The user can review, edit (if required)</a:t>
            </a:r>
          </a:p>
        </p:txBody>
      </p:sp>
      <p:sp>
        <p:nvSpPr>
          <p:cNvPr id="9" name="TextBox 8">
            <a:extLst>
              <a:ext uri="{FF2B5EF4-FFF2-40B4-BE49-F238E27FC236}">
                <a16:creationId xmlns:a16="http://schemas.microsoft.com/office/drawing/2014/main" id="{1CDD1A16-2CB6-6681-4390-6616F6964B43}"/>
              </a:ext>
            </a:extLst>
          </p:cNvPr>
          <p:cNvSpPr txBox="1"/>
          <p:nvPr/>
        </p:nvSpPr>
        <p:spPr>
          <a:xfrm>
            <a:off x="-442897" y="3237432"/>
            <a:ext cx="6097712" cy="1546577"/>
          </a:xfrm>
          <a:prstGeom prst="rect">
            <a:avLst/>
          </a:prstGeom>
          <a:noFill/>
        </p:spPr>
        <p:txBody>
          <a:bodyPr wrap="square">
            <a:spAutoFit/>
          </a:bodyPr>
          <a:lstStyle/>
          <a:p>
            <a:pPr marL="1200150" marR="0" lvl="2" indent="-285750">
              <a:spcBef>
                <a:spcPts val="1295"/>
              </a:spcBef>
              <a:buSzPts val="1200"/>
              <a:buFont typeface="Courier New" panose="02070309020205020404" pitchFamily="49" charset="0"/>
              <a:buChar char="o"/>
              <a:tabLst>
                <a:tab pos="700405" algn="l"/>
              </a:tabLst>
            </a:pPr>
            <a:r>
              <a:rPr lang="en-US" sz="1800" spc="0" dirty="0">
                <a:effectLst/>
                <a:latin typeface="Calibri" panose="020F0502020204030204" pitchFamily="34" charset="0"/>
                <a:ea typeface="Wingdings" panose="05000000000000000000" pitchFamily="2" charset="2"/>
                <a:cs typeface="Wingdings" panose="05000000000000000000" pitchFamily="2" charset="2"/>
              </a:rPr>
              <a:t>Number</a:t>
            </a:r>
            <a:r>
              <a:rPr lang="en-US" sz="1800" spc="-20"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of</a:t>
            </a:r>
            <a:r>
              <a:rPr lang="en-US" sz="1800" spc="-25"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People</a:t>
            </a:r>
            <a:r>
              <a:rPr lang="en-US" sz="1800" spc="-15"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want</a:t>
            </a:r>
            <a:r>
              <a:rPr lang="en-US" sz="1800" spc="-25"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to</a:t>
            </a:r>
            <a:r>
              <a:rPr lang="en-US" sz="1800" spc="-15"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be</a:t>
            </a:r>
            <a:r>
              <a:rPr lang="en-US" sz="1800" spc="-30" dirty="0">
                <a:effectLst/>
                <a:latin typeface="Calibri" panose="020F0502020204030204" pitchFamily="34" charset="0"/>
                <a:ea typeface="Wingdings" panose="05000000000000000000" pitchFamily="2" charset="2"/>
                <a:cs typeface="Wingdings" panose="05000000000000000000" pitchFamily="2" charset="2"/>
              </a:rPr>
              <a:t> </a:t>
            </a:r>
            <a:r>
              <a:rPr lang="en-US" sz="1800" spc="-10" dirty="0">
                <a:effectLst/>
                <a:latin typeface="Calibri" panose="020F0502020204030204" pitchFamily="34" charset="0"/>
                <a:ea typeface="Wingdings" panose="05000000000000000000" pitchFamily="2" charset="2"/>
                <a:cs typeface="Wingdings" panose="05000000000000000000" pitchFamily="2" charset="2"/>
              </a:rPr>
              <a:t>selected.</a:t>
            </a:r>
            <a:endParaRPr lang="en-US" sz="1600" spc="0" dirty="0">
              <a:effectLst/>
              <a:latin typeface="Calibri" panose="020F0502020204030204" pitchFamily="34" charset="0"/>
              <a:ea typeface="Wingdings" panose="05000000000000000000" pitchFamily="2" charset="2"/>
              <a:cs typeface="Wingdings" panose="05000000000000000000" pitchFamily="2" charset="2"/>
            </a:endParaRPr>
          </a:p>
          <a:p>
            <a:pPr marL="1200150" marR="0" lvl="2" indent="-285750">
              <a:spcBef>
                <a:spcPts val="910"/>
              </a:spcBef>
              <a:buSzPts val="1200"/>
              <a:buFont typeface="Courier New" panose="02070309020205020404" pitchFamily="49" charset="0"/>
              <a:buChar char="o"/>
              <a:tabLst>
                <a:tab pos="700405" algn="l"/>
              </a:tabLst>
            </a:pPr>
            <a:r>
              <a:rPr lang="en-US" sz="1800" spc="0" dirty="0">
                <a:effectLst/>
                <a:latin typeface="Calibri" panose="020F0502020204030204" pitchFamily="34" charset="0"/>
                <a:ea typeface="Wingdings" panose="05000000000000000000" pitchFamily="2" charset="2"/>
                <a:cs typeface="Wingdings" panose="05000000000000000000" pitchFamily="2" charset="2"/>
              </a:rPr>
              <a:t>Loading</a:t>
            </a:r>
            <a:r>
              <a:rPr lang="en-US" sz="1800" spc="-25"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or</a:t>
            </a:r>
            <a:r>
              <a:rPr lang="en-US" sz="1800" spc="-10"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Unloading</a:t>
            </a:r>
            <a:r>
              <a:rPr lang="en-US" sz="1800" spc="-15"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want</a:t>
            </a:r>
            <a:r>
              <a:rPr lang="en-US" sz="1800" spc="-20"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to</a:t>
            </a:r>
            <a:r>
              <a:rPr lang="en-US" sz="1800" spc="-20"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be</a:t>
            </a:r>
            <a:r>
              <a:rPr lang="en-US" sz="1800" spc="-10" dirty="0">
                <a:effectLst/>
                <a:latin typeface="Calibri" panose="020F0502020204030204" pitchFamily="34" charset="0"/>
                <a:ea typeface="Wingdings" panose="05000000000000000000" pitchFamily="2" charset="2"/>
                <a:cs typeface="Wingdings" panose="05000000000000000000" pitchFamily="2" charset="2"/>
              </a:rPr>
              <a:t> selected.</a:t>
            </a:r>
            <a:endParaRPr lang="en-US" sz="1600" spc="0" dirty="0">
              <a:effectLst/>
              <a:latin typeface="Calibri" panose="020F0502020204030204" pitchFamily="34" charset="0"/>
              <a:ea typeface="Wingdings" panose="05000000000000000000" pitchFamily="2" charset="2"/>
              <a:cs typeface="Wingdings" panose="05000000000000000000" pitchFamily="2" charset="2"/>
            </a:endParaRPr>
          </a:p>
          <a:p>
            <a:pPr marL="1200150" marR="0" lvl="2" indent="-285750">
              <a:spcBef>
                <a:spcPts val="925"/>
              </a:spcBef>
              <a:buSzPts val="1200"/>
              <a:buFont typeface="Courier New" panose="02070309020205020404" pitchFamily="49" charset="0"/>
              <a:buChar char="o"/>
              <a:tabLst>
                <a:tab pos="700405" algn="l"/>
              </a:tabLst>
            </a:pPr>
            <a:r>
              <a:rPr lang="en-US" sz="1800" spc="0" dirty="0">
                <a:effectLst/>
                <a:latin typeface="Calibri" panose="020F0502020204030204" pitchFamily="34" charset="0"/>
                <a:ea typeface="Wingdings" panose="05000000000000000000" pitchFamily="2" charset="2"/>
                <a:cs typeface="Wingdings" panose="05000000000000000000" pitchFamily="2" charset="2"/>
              </a:rPr>
              <a:t>Vehicle</a:t>
            </a:r>
            <a:r>
              <a:rPr lang="en-US" sz="1800" spc="-40"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Type</a:t>
            </a:r>
            <a:r>
              <a:rPr lang="en-US" sz="1800" spc="-40"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want</a:t>
            </a:r>
            <a:r>
              <a:rPr lang="en-US" sz="1800" spc="-35"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to</a:t>
            </a:r>
            <a:r>
              <a:rPr lang="en-US" sz="1800" spc="-45"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be</a:t>
            </a:r>
            <a:r>
              <a:rPr lang="en-US" sz="1800" spc="-45" dirty="0">
                <a:effectLst/>
                <a:latin typeface="Calibri" panose="020F0502020204030204" pitchFamily="34" charset="0"/>
                <a:ea typeface="Wingdings" panose="05000000000000000000" pitchFamily="2" charset="2"/>
                <a:cs typeface="Wingdings" panose="05000000000000000000" pitchFamily="2" charset="2"/>
              </a:rPr>
              <a:t> </a:t>
            </a:r>
            <a:r>
              <a:rPr lang="en-US" sz="1800" spc="-10" dirty="0">
                <a:effectLst/>
                <a:latin typeface="Calibri" panose="020F0502020204030204" pitchFamily="34" charset="0"/>
                <a:ea typeface="Wingdings" panose="05000000000000000000" pitchFamily="2" charset="2"/>
                <a:cs typeface="Wingdings" panose="05000000000000000000" pitchFamily="2" charset="2"/>
              </a:rPr>
              <a:t>selected.</a:t>
            </a:r>
            <a:endParaRPr lang="en-US" sz="1600" spc="0" dirty="0">
              <a:effectLst/>
              <a:latin typeface="Calibri" panose="020F0502020204030204" pitchFamily="34" charset="0"/>
              <a:ea typeface="Wingdings" panose="05000000000000000000" pitchFamily="2" charset="2"/>
              <a:cs typeface="Wingdings" panose="05000000000000000000" pitchFamily="2" charset="2"/>
            </a:endParaRPr>
          </a:p>
          <a:p>
            <a:pPr marL="1200150" marR="0" lvl="2" indent="-285750">
              <a:spcBef>
                <a:spcPts val="910"/>
              </a:spcBef>
              <a:buSzPts val="1200"/>
              <a:buFont typeface="Courier New" panose="02070309020205020404" pitchFamily="49" charset="0"/>
              <a:buChar char="o"/>
              <a:tabLst>
                <a:tab pos="700405" algn="l"/>
              </a:tabLst>
            </a:pPr>
            <a:r>
              <a:rPr lang="en-US" sz="1800" spc="0" dirty="0">
                <a:effectLst/>
                <a:latin typeface="Calibri" panose="020F0502020204030204" pitchFamily="34" charset="0"/>
                <a:ea typeface="Wingdings" panose="05000000000000000000" pitchFamily="2" charset="2"/>
                <a:cs typeface="Wingdings" panose="05000000000000000000" pitchFamily="2" charset="2"/>
              </a:rPr>
              <a:t>Transporter</a:t>
            </a:r>
            <a:r>
              <a:rPr lang="en-US" sz="1800" spc="-45"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Name</a:t>
            </a:r>
            <a:r>
              <a:rPr lang="en-US" sz="1800" spc="-40"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want</a:t>
            </a:r>
            <a:r>
              <a:rPr lang="en-US" sz="1800" spc="-45"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to</a:t>
            </a:r>
            <a:r>
              <a:rPr lang="en-US" sz="1800" spc="-30" dirty="0">
                <a:effectLst/>
                <a:latin typeface="Calibri" panose="020F0502020204030204" pitchFamily="34" charset="0"/>
                <a:ea typeface="Wingdings" panose="05000000000000000000" pitchFamily="2" charset="2"/>
                <a:cs typeface="Wingdings" panose="05000000000000000000" pitchFamily="2" charset="2"/>
              </a:rPr>
              <a:t> </a:t>
            </a:r>
            <a:r>
              <a:rPr lang="en-US" sz="1800" spc="0" dirty="0">
                <a:effectLst/>
                <a:latin typeface="Calibri" panose="020F0502020204030204" pitchFamily="34" charset="0"/>
                <a:ea typeface="Wingdings" panose="05000000000000000000" pitchFamily="2" charset="2"/>
                <a:cs typeface="Wingdings" panose="05000000000000000000" pitchFamily="2" charset="2"/>
              </a:rPr>
              <a:t>be</a:t>
            </a:r>
            <a:r>
              <a:rPr lang="en-US" sz="1800" spc="-45" dirty="0">
                <a:effectLst/>
                <a:latin typeface="Calibri" panose="020F0502020204030204" pitchFamily="34" charset="0"/>
                <a:ea typeface="Wingdings" panose="05000000000000000000" pitchFamily="2" charset="2"/>
                <a:cs typeface="Wingdings" panose="05000000000000000000" pitchFamily="2" charset="2"/>
              </a:rPr>
              <a:t> </a:t>
            </a:r>
            <a:r>
              <a:rPr lang="en-US" sz="1800" spc="-10" dirty="0">
                <a:effectLst/>
                <a:latin typeface="Calibri" panose="020F0502020204030204" pitchFamily="34" charset="0"/>
                <a:ea typeface="Wingdings" panose="05000000000000000000" pitchFamily="2" charset="2"/>
                <a:cs typeface="Wingdings" panose="05000000000000000000" pitchFamily="2" charset="2"/>
              </a:rPr>
              <a:t>selected and Submit</a:t>
            </a:r>
          </a:p>
        </p:txBody>
      </p:sp>
      <p:sp>
        <p:nvSpPr>
          <p:cNvPr id="10" name="TextBox 9">
            <a:extLst>
              <a:ext uri="{FF2B5EF4-FFF2-40B4-BE49-F238E27FC236}">
                <a16:creationId xmlns:a16="http://schemas.microsoft.com/office/drawing/2014/main" id="{A2DE7D42-F9FE-5274-7105-7CC23B9DA7C8}"/>
              </a:ext>
            </a:extLst>
          </p:cNvPr>
          <p:cNvSpPr txBox="1"/>
          <p:nvPr/>
        </p:nvSpPr>
        <p:spPr>
          <a:xfrm>
            <a:off x="110447" y="2709250"/>
            <a:ext cx="5149922" cy="369332"/>
          </a:xfrm>
          <a:prstGeom prst="rect">
            <a:avLst/>
          </a:prstGeom>
          <a:noFill/>
        </p:spPr>
        <p:txBody>
          <a:bodyPr wrap="square">
            <a:spAutoFit/>
          </a:bodyPr>
          <a:lstStyle/>
          <a:p>
            <a:r>
              <a:rPr lang="en-US" b="1" dirty="0"/>
              <a:t>Required Fields:</a:t>
            </a:r>
          </a:p>
        </p:txBody>
      </p:sp>
    </p:spTree>
    <p:extLst>
      <p:ext uri="{BB962C8B-B14F-4D97-AF65-F5344CB8AC3E}">
        <p14:creationId xmlns:p14="http://schemas.microsoft.com/office/powerpoint/2010/main" val="29120593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0D94B-0325-3C89-ECA8-B3E7D2392C3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CF3EC05-390A-4AD6-6A7A-B064EFEABA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49261" y="0"/>
            <a:ext cx="4452342" cy="6858000"/>
          </a:xfrm>
          <a:prstGeom prst="rect">
            <a:avLst/>
          </a:prstGeom>
        </p:spPr>
      </p:pic>
      <p:sp>
        <p:nvSpPr>
          <p:cNvPr id="2" name="TextBox 1"/>
          <p:cNvSpPr txBox="1"/>
          <p:nvPr/>
        </p:nvSpPr>
        <p:spPr>
          <a:xfrm>
            <a:off x="180109" y="207817"/>
            <a:ext cx="5500255" cy="3139321"/>
          </a:xfrm>
          <a:prstGeom prst="rect">
            <a:avLst/>
          </a:prstGeom>
          <a:noFill/>
        </p:spPr>
        <p:txBody>
          <a:bodyPr wrap="square" rtlCol="0">
            <a:spAutoFit/>
          </a:bodyPr>
          <a:lstStyle/>
          <a:p>
            <a:r>
              <a:rPr lang="en-IN" b="1" dirty="0"/>
              <a:t>If the driver’s details are not available in the system:</a:t>
            </a:r>
          </a:p>
          <a:p>
            <a:r>
              <a:rPr lang="en-IN" b="1" dirty="0"/>
              <a:t>(</a:t>
            </a:r>
            <a:r>
              <a:rPr lang="hi-IN" b="1" dirty="0"/>
              <a:t>चालकाची माहिती सिस्टममध्ये उपलब्ध नसल्यास</a:t>
            </a:r>
            <a:r>
              <a:rPr lang="hi-IN" b="1" dirty="0" smtClean="0"/>
              <a:t>):</a:t>
            </a:r>
            <a:endParaRPr lang="en-US" b="1" dirty="0" smtClean="0"/>
          </a:p>
          <a:p>
            <a:endParaRPr lang="hi-IN" dirty="0"/>
          </a:p>
          <a:p>
            <a:r>
              <a:rPr lang="hi-IN" dirty="0"/>
              <a:t>चालकाची माहिती सिस्टममध्ये उपलब्ध नसल्यास, वापरकर्त्याने चालकाचा परवाना (</a:t>
            </a:r>
            <a:r>
              <a:rPr lang="en-IN" dirty="0"/>
              <a:t>Driving License) </a:t>
            </a:r>
            <a:r>
              <a:rPr lang="hi-IN" dirty="0"/>
              <a:t>कॅप्चर करून अपलोड करणे आवश्यक आहे</a:t>
            </a:r>
            <a:r>
              <a:rPr lang="hi-IN" dirty="0" smtClean="0"/>
              <a:t>.</a:t>
            </a:r>
            <a:r>
              <a:rPr lang="hi-IN" dirty="0"/>
              <a:t/>
            </a:r>
            <a:br>
              <a:rPr lang="hi-IN" dirty="0"/>
            </a:br>
            <a:r>
              <a:rPr lang="hi-IN" dirty="0"/>
              <a:t>अ‍ॅप्लिकेशन </a:t>
            </a:r>
            <a:r>
              <a:rPr lang="en-IN" dirty="0"/>
              <a:t>OCR </a:t>
            </a:r>
            <a:r>
              <a:rPr lang="hi-IN" dirty="0"/>
              <a:t>फंक्शनचा वापर करून अपलोड केलेल्या दस्तऐवजातून आवश्यक माहिती आपोआप काढेल.</a:t>
            </a:r>
          </a:p>
          <a:p>
            <a:r>
              <a:rPr lang="hi-IN" dirty="0"/>
              <a:t>वापरकर्ता ही माहिती तपासू शकतो आणि आवश्यक असल्यास संपादन (</a:t>
            </a:r>
            <a:r>
              <a:rPr lang="en-IN" dirty="0"/>
              <a:t>Edit) </a:t>
            </a:r>
            <a:r>
              <a:rPr lang="hi-IN" dirty="0"/>
              <a:t>करून दुरुस्ती करू शकतो</a:t>
            </a:r>
            <a:r>
              <a:rPr lang="hi-IN" dirty="0" smtClean="0"/>
              <a:t>.</a:t>
            </a:r>
            <a:endParaRPr lang="en-US" dirty="0" smtClean="0"/>
          </a:p>
          <a:p>
            <a:endParaRPr lang="hi-IN" dirty="0"/>
          </a:p>
        </p:txBody>
      </p:sp>
      <p:sp>
        <p:nvSpPr>
          <p:cNvPr id="3" name="TextBox 2"/>
          <p:cNvSpPr txBox="1"/>
          <p:nvPr/>
        </p:nvSpPr>
        <p:spPr>
          <a:xfrm>
            <a:off x="180109" y="3006436"/>
            <a:ext cx="5680364" cy="3970318"/>
          </a:xfrm>
          <a:prstGeom prst="rect">
            <a:avLst/>
          </a:prstGeom>
          <a:noFill/>
        </p:spPr>
        <p:txBody>
          <a:bodyPr wrap="square" rtlCol="0">
            <a:spAutoFit/>
          </a:bodyPr>
          <a:lstStyle/>
          <a:p>
            <a:r>
              <a:rPr lang="en-US" b="1" dirty="0" smtClean="0"/>
              <a:t> </a:t>
            </a:r>
          </a:p>
          <a:p>
            <a:endParaRPr lang="en-US" b="1" dirty="0" smtClean="0"/>
          </a:p>
          <a:p>
            <a:r>
              <a:rPr lang="hi-IN" b="1" dirty="0" smtClean="0"/>
              <a:t>आवश्यक </a:t>
            </a:r>
            <a:r>
              <a:rPr lang="hi-IN" b="1" dirty="0"/>
              <a:t>फील्डस्</a:t>
            </a:r>
            <a:r>
              <a:rPr lang="hi-IN" b="1" dirty="0" smtClean="0"/>
              <a:t>:</a:t>
            </a:r>
            <a:endParaRPr lang="en-US" b="1" dirty="0" smtClean="0"/>
          </a:p>
          <a:p>
            <a:endParaRPr lang="hi-IN" b="1" dirty="0"/>
          </a:p>
          <a:p>
            <a:pPr marL="285750" indent="-285750">
              <a:buFont typeface="Arial" panose="020B0604020202020204" pitchFamily="34" charset="0"/>
              <a:buChar char="•"/>
            </a:pPr>
            <a:r>
              <a:rPr lang="hi-IN" dirty="0"/>
              <a:t>लोकसंख्या (</a:t>
            </a:r>
            <a:r>
              <a:rPr lang="en-IN" dirty="0"/>
              <a:t>Number of People): </a:t>
            </a:r>
            <a:r>
              <a:rPr lang="hi-IN" dirty="0"/>
              <a:t>निवडणे आवश्यक आहे</a:t>
            </a:r>
            <a:r>
              <a:rPr lang="hi-IN" dirty="0" smtClean="0"/>
              <a:t>.</a:t>
            </a:r>
            <a:endParaRPr lang="en-US" dirty="0" smtClean="0"/>
          </a:p>
          <a:p>
            <a:endParaRPr lang="hi-IN" dirty="0"/>
          </a:p>
          <a:p>
            <a:pPr marL="285750" indent="-285750">
              <a:buFont typeface="Arial" panose="020B0604020202020204" pitchFamily="34" charset="0"/>
              <a:buChar char="•"/>
            </a:pPr>
            <a:r>
              <a:rPr lang="hi-IN" dirty="0"/>
              <a:t>लोडिंग किंवा अनलोडिंग (</a:t>
            </a:r>
            <a:r>
              <a:rPr lang="en-IN" dirty="0"/>
              <a:t>Loading/Unloading): </a:t>
            </a:r>
            <a:r>
              <a:rPr lang="hi-IN" dirty="0"/>
              <a:t>यापैकी एक पर्याय निवडणे आवश्यक आहे</a:t>
            </a:r>
            <a:r>
              <a:rPr lang="hi-IN" dirty="0" smtClean="0"/>
              <a:t>.</a:t>
            </a:r>
            <a:endParaRPr lang="en-US" dirty="0" smtClean="0"/>
          </a:p>
          <a:p>
            <a:endParaRPr lang="hi-IN" dirty="0"/>
          </a:p>
          <a:p>
            <a:pPr marL="285750" indent="-285750">
              <a:buFont typeface="Arial" panose="020B0604020202020204" pitchFamily="34" charset="0"/>
              <a:buChar char="•"/>
            </a:pPr>
            <a:r>
              <a:rPr lang="hi-IN" dirty="0"/>
              <a:t>वाहन प्रकार (</a:t>
            </a:r>
            <a:r>
              <a:rPr lang="en-IN" dirty="0"/>
              <a:t>Vehicle Type): </a:t>
            </a:r>
            <a:r>
              <a:rPr lang="hi-IN" dirty="0"/>
              <a:t>निवडणे आवश्यक आहे</a:t>
            </a:r>
            <a:r>
              <a:rPr lang="hi-IN" dirty="0" smtClean="0"/>
              <a:t>.</a:t>
            </a:r>
            <a:endParaRPr lang="en-US" dirty="0" smtClean="0"/>
          </a:p>
          <a:p>
            <a:endParaRPr lang="hi-IN" dirty="0"/>
          </a:p>
          <a:p>
            <a:pPr marL="285750" indent="-285750">
              <a:buFont typeface="Arial" panose="020B0604020202020204" pitchFamily="34" charset="0"/>
              <a:buChar char="•"/>
            </a:pPr>
            <a:r>
              <a:rPr lang="hi-IN" dirty="0"/>
              <a:t>ट्रान्सपोर्टरचे नाव (</a:t>
            </a:r>
            <a:r>
              <a:rPr lang="en-IN" dirty="0"/>
              <a:t>Transporter Name): </a:t>
            </a:r>
            <a:r>
              <a:rPr lang="hi-IN" dirty="0"/>
              <a:t>निवडणे आवश्यक आहे आणि त्यानंतर </a:t>
            </a:r>
            <a:r>
              <a:rPr lang="en-IN" dirty="0"/>
              <a:t>Submit </a:t>
            </a:r>
            <a:r>
              <a:rPr lang="hi-IN" dirty="0"/>
              <a:t>वर क्लिक करावे.</a:t>
            </a:r>
          </a:p>
          <a:p>
            <a:endParaRPr lang="en-IN" dirty="0"/>
          </a:p>
        </p:txBody>
      </p:sp>
    </p:spTree>
    <p:extLst>
      <p:ext uri="{BB962C8B-B14F-4D97-AF65-F5344CB8AC3E}">
        <p14:creationId xmlns:p14="http://schemas.microsoft.com/office/powerpoint/2010/main" val="39750176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85C43-DAD1-CF0C-CD98-9C77448D5FFA}"/>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381C52-6ED8-0547-41E8-BECDC3F640EF}"/>
              </a:ext>
            </a:extLst>
          </p:cNvPr>
          <p:cNvSpPr txBox="1"/>
          <p:nvPr/>
        </p:nvSpPr>
        <p:spPr>
          <a:xfrm>
            <a:off x="181941" y="848166"/>
            <a:ext cx="3159177" cy="523220"/>
          </a:xfrm>
          <a:prstGeom prst="rect">
            <a:avLst/>
          </a:prstGeom>
          <a:noFill/>
        </p:spPr>
        <p:txBody>
          <a:bodyPr wrap="square">
            <a:spAutoFit/>
          </a:bodyPr>
          <a:lstStyle/>
          <a:p>
            <a:r>
              <a:rPr lang="en-GB" sz="2800" dirty="0">
                <a:latin typeface="Times New Roman" panose="02020603050405020304" pitchFamily="18" charset="0"/>
                <a:ea typeface="+mj-ea"/>
                <a:cs typeface="Times New Roman" panose="02020603050405020304" pitchFamily="18" charset="0"/>
              </a:rPr>
              <a:t>Gate Out Page:</a:t>
            </a:r>
            <a:endParaRPr lang="en-IN" sz="2800" dirty="0">
              <a:latin typeface="Times New Roman" panose="02020603050405020304" pitchFamily="18" charset="0"/>
              <a:ea typeface="+mj-ea"/>
              <a:cs typeface="Times New Roman" panose="02020603050405020304" pitchFamily="18" charset="0"/>
            </a:endParaRPr>
          </a:p>
        </p:txBody>
      </p:sp>
      <p:pic>
        <p:nvPicPr>
          <p:cNvPr id="4" name="Picture 3">
            <a:extLst>
              <a:ext uri="{FF2B5EF4-FFF2-40B4-BE49-F238E27FC236}">
                <a16:creationId xmlns:a16="http://schemas.microsoft.com/office/drawing/2014/main" id="{5CE90222-9804-A929-4D2E-47251C0564B3}"/>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501603" y="0"/>
            <a:ext cx="1690397" cy="685490"/>
          </a:xfrm>
          <a:prstGeom prst="rect">
            <a:avLst/>
          </a:prstGeom>
        </p:spPr>
      </p:pic>
      <p:pic>
        <p:nvPicPr>
          <p:cNvPr id="5" name="Picture 4">
            <a:extLst>
              <a:ext uri="{FF2B5EF4-FFF2-40B4-BE49-F238E27FC236}">
                <a16:creationId xmlns:a16="http://schemas.microsoft.com/office/drawing/2014/main" id="{1E81687A-86A0-AE74-A657-A2A645C31C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81212" cy="685896"/>
          </a:xfrm>
          <a:prstGeom prst="rect">
            <a:avLst/>
          </a:prstGeom>
        </p:spPr>
      </p:pic>
      <p:sp>
        <p:nvSpPr>
          <p:cNvPr id="7" name="TextBox 6">
            <a:extLst>
              <a:ext uri="{FF2B5EF4-FFF2-40B4-BE49-F238E27FC236}">
                <a16:creationId xmlns:a16="http://schemas.microsoft.com/office/drawing/2014/main" id="{8DB1451C-8B3C-8CE4-CA57-1060C92D3891}"/>
              </a:ext>
            </a:extLst>
          </p:cNvPr>
          <p:cNvSpPr txBox="1"/>
          <p:nvPr/>
        </p:nvSpPr>
        <p:spPr>
          <a:xfrm>
            <a:off x="256055" y="1533656"/>
            <a:ext cx="5839945" cy="1938992"/>
          </a:xfrm>
          <a:prstGeom prst="rect">
            <a:avLst/>
          </a:prstGeom>
          <a:noFill/>
        </p:spPr>
        <p:txBody>
          <a:bodyPr wrap="square">
            <a:spAutoFit/>
          </a:bodyPr>
          <a:lstStyle/>
          <a:p>
            <a:r>
              <a:rPr lang="en-US" sz="2400" dirty="0"/>
              <a:t>When the user clicks on the Vehicle Exit button, a list of all vehicles that have entered the plant will be displayed. The user can enter a specific vehicle number in the search field to quickly locate the required vehicle. </a:t>
            </a:r>
            <a:endParaRPr lang="en-IN" sz="2400" dirty="0">
              <a:latin typeface="Times New Roman" panose="02020603050405020304" pitchFamily="18" charset="0"/>
              <a:ea typeface="+mj-ea"/>
              <a:cs typeface="Times New Roman" panose="02020603050405020304" pitchFamily="18" charset="0"/>
            </a:endParaRPr>
          </a:p>
        </p:txBody>
      </p:sp>
      <p:pic>
        <p:nvPicPr>
          <p:cNvPr id="8" name="Picture 7">
            <a:extLst>
              <a:ext uri="{FF2B5EF4-FFF2-40B4-BE49-F238E27FC236}">
                <a16:creationId xmlns:a16="http://schemas.microsoft.com/office/drawing/2014/main" id="{44861383-EE54-A6FB-78B3-F04AEAF8F0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96000" y="0"/>
            <a:ext cx="4334470" cy="6858000"/>
          </a:xfrm>
          <a:prstGeom prst="rect">
            <a:avLst/>
          </a:prstGeom>
        </p:spPr>
      </p:pic>
      <p:sp>
        <p:nvSpPr>
          <p:cNvPr id="12" name="TextBox 11">
            <a:extLst>
              <a:ext uri="{FF2B5EF4-FFF2-40B4-BE49-F238E27FC236}">
                <a16:creationId xmlns:a16="http://schemas.microsoft.com/office/drawing/2014/main" id="{2693FBB1-8664-271B-E26A-31B8CAB78077}"/>
              </a:ext>
            </a:extLst>
          </p:cNvPr>
          <p:cNvSpPr txBox="1"/>
          <p:nvPr/>
        </p:nvSpPr>
        <p:spPr>
          <a:xfrm>
            <a:off x="157186" y="3798972"/>
            <a:ext cx="5938814" cy="2210862"/>
          </a:xfrm>
          <a:prstGeom prst="rect">
            <a:avLst/>
          </a:prstGeom>
          <a:noFill/>
        </p:spPr>
        <p:txBody>
          <a:bodyPr wrap="square">
            <a:spAutoFit/>
          </a:bodyPr>
          <a:lstStyle/>
          <a:p>
            <a:pPr marL="14605" marR="0">
              <a:spcBef>
                <a:spcPts val="1570"/>
              </a:spcBef>
              <a:buNone/>
            </a:pPr>
            <a:r>
              <a:rPr lang="en-US" sz="1800" b="1" dirty="0">
                <a:effectLst/>
                <a:highlight>
                  <a:srgbClr val="FFFF00"/>
                </a:highlight>
                <a:latin typeface="Calibri" panose="020F0502020204030204" pitchFamily="34" charset="0"/>
                <a:ea typeface="Calibri" panose="020F0502020204030204" pitchFamily="34" charset="0"/>
              </a:rPr>
              <a:t>Advantages</a:t>
            </a:r>
            <a:r>
              <a:rPr lang="en-US" sz="1800" b="1" spc="-20" dirty="0">
                <a:effectLst/>
                <a:highlight>
                  <a:srgbClr val="FFFF00"/>
                </a:highlight>
                <a:latin typeface="Calibri" panose="020F0502020204030204" pitchFamily="34" charset="0"/>
                <a:ea typeface="Calibri" panose="020F0502020204030204" pitchFamily="34" charset="0"/>
              </a:rPr>
              <a:t> </a:t>
            </a:r>
            <a:r>
              <a:rPr lang="en-US" sz="1800" b="1" dirty="0">
                <a:effectLst/>
                <a:highlight>
                  <a:srgbClr val="FFFF00"/>
                </a:highlight>
                <a:latin typeface="Calibri" panose="020F0502020204030204" pitchFamily="34" charset="0"/>
                <a:ea typeface="Calibri" panose="020F0502020204030204" pitchFamily="34" charset="0"/>
              </a:rPr>
              <a:t>of</a:t>
            </a:r>
            <a:r>
              <a:rPr lang="en-US" sz="1800" b="1" spc="265" dirty="0">
                <a:effectLst/>
                <a:highlight>
                  <a:srgbClr val="FFFF00"/>
                </a:highlight>
                <a:latin typeface="Calibri" panose="020F0502020204030204" pitchFamily="34" charset="0"/>
                <a:ea typeface="Calibri" panose="020F0502020204030204" pitchFamily="34" charset="0"/>
              </a:rPr>
              <a:t> </a:t>
            </a:r>
            <a:r>
              <a:rPr lang="en-US" sz="1800" b="1" dirty="0">
                <a:effectLst/>
                <a:highlight>
                  <a:srgbClr val="FFFF00"/>
                </a:highlight>
                <a:latin typeface="Calibri" panose="020F0502020204030204" pitchFamily="34" charset="0"/>
                <a:ea typeface="Calibri" panose="020F0502020204030204" pitchFamily="34" charset="0"/>
              </a:rPr>
              <a:t>Details</a:t>
            </a:r>
            <a:r>
              <a:rPr lang="en-US" sz="1800" b="1" spc="-15" dirty="0">
                <a:effectLst/>
                <a:highlight>
                  <a:srgbClr val="FFFF00"/>
                </a:highlight>
                <a:latin typeface="Calibri" panose="020F0502020204030204" pitchFamily="34" charset="0"/>
                <a:ea typeface="Calibri" panose="020F0502020204030204" pitchFamily="34" charset="0"/>
              </a:rPr>
              <a:t> </a:t>
            </a:r>
            <a:r>
              <a:rPr lang="en-US" sz="1800" b="1" dirty="0">
                <a:effectLst/>
                <a:highlight>
                  <a:srgbClr val="FFFF00"/>
                </a:highlight>
                <a:latin typeface="Calibri" panose="020F0502020204030204" pitchFamily="34" charset="0"/>
                <a:ea typeface="Calibri" panose="020F0502020204030204" pitchFamily="34" charset="0"/>
              </a:rPr>
              <a:t>Page</a:t>
            </a:r>
            <a:r>
              <a:rPr lang="en-US" sz="1800" b="1" spc="-15" dirty="0">
                <a:effectLst/>
                <a:highlight>
                  <a:srgbClr val="FFFF00"/>
                </a:highlight>
                <a:latin typeface="Calibri" panose="020F0502020204030204" pitchFamily="34" charset="0"/>
                <a:ea typeface="Calibri" panose="020F0502020204030204" pitchFamily="34" charset="0"/>
              </a:rPr>
              <a:t> </a:t>
            </a:r>
            <a:r>
              <a:rPr lang="en-US" sz="1800" b="1" spc="-50" dirty="0">
                <a:effectLst/>
                <a:highlight>
                  <a:srgbClr val="FFFF00"/>
                </a:highlight>
                <a:latin typeface="Calibri" panose="020F0502020204030204" pitchFamily="34" charset="0"/>
                <a:ea typeface="Calibri" panose="020F0502020204030204" pitchFamily="34" charset="0"/>
              </a:rPr>
              <a:t>:</a:t>
            </a:r>
            <a:endParaRPr lang="en-US" sz="1800" b="1" dirty="0">
              <a:effectLst/>
              <a:highlight>
                <a:srgbClr val="FFFF00"/>
              </a:highlight>
              <a:latin typeface="Calibri" panose="020F0502020204030204" pitchFamily="34" charset="0"/>
              <a:ea typeface="Calibri" panose="020F0502020204030204" pitchFamily="34" charset="0"/>
            </a:endParaRPr>
          </a:p>
          <a:p>
            <a:pPr marL="342900" marR="0" lvl="0" indent="-342900">
              <a:spcBef>
                <a:spcPts val="1405"/>
              </a:spcBef>
              <a:buSzPts val="1300"/>
              <a:buFont typeface="Symbol" panose="05050102010706020507" pitchFamily="18" charset="2"/>
              <a:buChar char=""/>
              <a:tabLst>
                <a:tab pos="929005" algn="l"/>
              </a:tabLst>
            </a:pPr>
            <a:r>
              <a:rPr lang="en-US" sz="1800" spc="0" dirty="0">
                <a:effectLst/>
                <a:latin typeface="Calibri" panose="020F0502020204030204" pitchFamily="34" charset="0"/>
                <a:ea typeface="Symbol" panose="05050102010706020507" pitchFamily="18" charset="2"/>
                <a:cs typeface="Symbol" panose="05050102010706020507" pitchFamily="18" charset="2"/>
              </a:rPr>
              <a:t>Ensures</a:t>
            </a:r>
            <a:r>
              <a:rPr lang="en-US" sz="1800" spc="-4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only</a:t>
            </a:r>
            <a:r>
              <a:rPr lang="en-US" sz="1800" spc="-4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drivers</a:t>
            </a:r>
            <a:r>
              <a:rPr lang="en-US" sz="1800" spc="-3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with</a:t>
            </a:r>
            <a:r>
              <a:rPr lang="en-US" sz="1800" spc="-4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valid</a:t>
            </a:r>
            <a:r>
              <a:rPr lang="en-US" sz="1800" spc="-4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licenses</a:t>
            </a:r>
            <a:r>
              <a:rPr lang="en-US" sz="1800" spc="-4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are</a:t>
            </a:r>
            <a:r>
              <a:rPr lang="en-US" sz="1800" spc="-40" dirty="0">
                <a:effectLst/>
                <a:latin typeface="Calibri" panose="020F0502020204030204" pitchFamily="34" charset="0"/>
                <a:ea typeface="Symbol" panose="05050102010706020507" pitchFamily="18" charset="2"/>
                <a:cs typeface="Symbol" panose="05050102010706020507" pitchFamily="18" charset="2"/>
              </a:rPr>
              <a:t> </a:t>
            </a:r>
            <a:r>
              <a:rPr lang="en-US" sz="1800" spc="-10" dirty="0">
                <a:effectLst/>
                <a:latin typeface="Calibri" panose="020F0502020204030204" pitchFamily="34" charset="0"/>
                <a:ea typeface="Symbol" panose="05050102010706020507" pitchFamily="18" charset="2"/>
                <a:cs typeface="Symbol" panose="05050102010706020507" pitchFamily="18" charset="2"/>
              </a:rPr>
              <a:t>processed.</a:t>
            </a:r>
            <a:endParaRPr lang="en-US" sz="1400" spc="0" dirty="0">
              <a:effectLst/>
              <a:latin typeface="Calibri" panose="020F0502020204030204" pitchFamily="34" charset="0"/>
              <a:ea typeface="Symbol" panose="05050102010706020507" pitchFamily="18" charset="2"/>
              <a:cs typeface="Symbol" panose="05050102010706020507" pitchFamily="18" charset="2"/>
            </a:endParaRPr>
          </a:p>
          <a:p>
            <a:pPr marL="342900" marR="0" lvl="0" indent="-342900">
              <a:buSzPts val="1300"/>
              <a:buFont typeface="Symbol" panose="05050102010706020507" pitchFamily="18" charset="2"/>
              <a:buChar char=""/>
              <a:tabLst>
                <a:tab pos="929005" algn="l"/>
              </a:tabLst>
            </a:pPr>
            <a:r>
              <a:rPr lang="en-US" sz="1800" spc="0" dirty="0">
                <a:effectLst/>
                <a:latin typeface="Calibri" panose="020F0502020204030204" pitchFamily="34" charset="0"/>
                <a:ea typeface="Symbol" panose="05050102010706020507" pitchFamily="18" charset="2"/>
                <a:cs typeface="Symbol" panose="05050102010706020507" pitchFamily="18" charset="2"/>
              </a:rPr>
              <a:t>Streamlines</a:t>
            </a:r>
            <a:r>
              <a:rPr lang="en-US" sz="1800" spc="-5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license</a:t>
            </a:r>
            <a:r>
              <a:rPr lang="en-US" sz="1800" spc="-5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capture</a:t>
            </a:r>
            <a:r>
              <a:rPr lang="en-US" sz="1800" spc="-4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using</a:t>
            </a:r>
            <a:r>
              <a:rPr lang="en-US" sz="1800" spc="-4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OCR</a:t>
            </a:r>
            <a:r>
              <a:rPr lang="en-US" sz="1800" spc="-4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and</a:t>
            </a:r>
            <a:r>
              <a:rPr lang="en-US" sz="1800" spc="-4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image</a:t>
            </a:r>
            <a:r>
              <a:rPr lang="en-US" sz="1800" spc="-45" dirty="0">
                <a:effectLst/>
                <a:latin typeface="Calibri" panose="020F0502020204030204" pitchFamily="34" charset="0"/>
                <a:ea typeface="Symbol" panose="05050102010706020507" pitchFamily="18" charset="2"/>
                <a:cs typeface="Symbol" panose="05050102010706020507" pitchFamily="18" charset="2"/>
              </a:rPr>
              <a:t> </a:t>
            </a:r>
            <a:r>
              <a:rPr lang="en-US" sz="1800" spc="-10" dirty="0">
                <a:effectLst/>
                <a:latin typeface="Calibri" panose="020F0502020204030204" pitchFamily="34" charset="0"/>
                <a:ea typeface="Symbol" panose="05050102010706020507" pitchFamily="18" charset="2"/>
                <a:cs typeface="Symbol" panose="05050102010706020507" pitchFamily="18" charset="2"/>
              </a:rPr>
              <a:t>uploads.</a:t>
            </a:r>
            <a:endParaRPr lang="en-US" sz="1400" spc="0" dirty="0">
              <a:effectLst/>
              <a:latin typeface="Calibri" panose="020F0502020204030204" pitchFamily="34" charset="0"/>
              <a:ea typeface="Symbol" panose="05050102010706020507" pitchFamily="18" charset="2"/>
              <a:cs typeface="Symbol" panose="05050102010706020507" pitchFamily="18" charset="2"/>
            </a:endParaRPr>
          </a:p>
          <a:p>
            <a:pPr marL="342900" marR="0" lvl="0" indent="-342900">
              <a:buSzPts val="1300"/>
              <a:buFont typeface="Symbol" panose="05050102010706020507" pitchFamily="18" charset="2"/>
              <a:buChar char=""/>
              <a:tabLst>
                <a:tab pos="929005" algn="l"/>
              </a:tabLst>
            </a:pPr>
            <a:r>
              <a:rPr lang="en-US" sz="1800" spc="0" dirty="0">
                <a:effectLst/>
                <a:latin typeface="Calibri" panose="020F0502020204030204" pitchFamily="34" charset="0"/>
                <a:ea typeface="Symbol" panose="05050102010706020507" pitchFamily="18" charset="2"/>
                <a:cs typeface="Symbol" panose="05050102010706020507" pitchFamily="18" charset="2"/>
              </a:rPr>
              <a:t>Allows</a:t>
            </a:r>
            <a:r>
              <a:rPr lang="en-US" sz="1800" spc="-5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manual</a:t>
            </a:r>
            <a:r>
              <a:rPr lang="en-US" sz="1800" spc="-3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correction</a:t>
            </a:r>
            <a:r>
              <a:rPr lang="en-US" sz="1800" spc="-5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when</a:t>
            </a:r>
            <a:r>
              <a:rPr lang="en-US" sz="1800" spc="-5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OCR</a:t>
            </a:r>
            <a:r>
              <a:rPr lang="en-US" sz="1800" spc="-5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extraction</a:t>
            </a:r>
            <a:r>
              <a:rPr lang="en-US" sz="1800" spc="-50" dirty="0">
                <a:effectLst/>
                <a:latin typeface="Calibri" panose="020F0502020204030204" pitchFamily="34" charset="0"/>
                <a:ea typeface="Symbol" panose="05050102010706020507" pitchFamily="18" charset="2"/>
                <a:cs typeface="Symbol" panose="05050102010706020507" pitchFamily="18" charset="2"/>
              </a:rPr>
              <a:t> </a:t>
            </a:r>
            <a:r>
              <a:rPr lang="en-US" sz="1800" spc="-10" dirty="0">
                <a:effectLst/>
                <a:latin typeface="Calibri" panose="020F0502020204030204" pitchFamily="34" charset="0"/>
                <a:ea typeface="Symbol" panose="05050102010706020507" pitchFamily="18" charset="2"/>
                <a:cs typeface="Symbol" panose="05050102010706020507" pitchFamily="18" charset="2"/>
              </a:rPr>
              <a:t>mismatches.</a:t>
            </a:r>
            <a:endParaRPr lang="en-US" sz="1400" spc="0" dirty="0">
              <a:effectLst/>
              <a:latin typeface="Calibri" panose="020F0502020204030204" pitchFamily="34" charset="0"/>
              <a:ea typeface="Symbol" panose="05050102010706020507" pitchFamily="18" charset="2"/>
              <a:cs typeface="Symbol" panose="05050102010706020507" pitchFamily="18" charset="2"/>
            </a:endParaRPr>
          </a:p>
          <a:p>
            <a:pPr marL="342900" marR="0" lvl="0" indent="-342900">
              <a:buSzPts val="1300"/>
              <a:buFont typeface="Symbol" panose="05050102010706020507" pitchFamily="18" charset="2"/>
              <a:buChar char=""/>
              <a:tabLst>
                <a:tab pos="929005" algn="l"/>
              </a:tabLst>
            </a:pPr>
            <a:r>
              <a:rPr lang="en-US" sz="1800" spc="0" dirty="0">
                <a:effectLst/>
                <a:latin typeface="Calibri" panose="020F0502020204030204" pitchFamily="34" charset="0"/>
                <a:ea typeface="Symbol" panose="05050102010706020507" pitchFamily="18" charset="2"/>
                <a:cs typeface="Symbol" panose="05050102010706020507" pitchFamily="18" charset="2"/>
              </a:rPr>
              <a:t>Provides</a:t>
            </a:r>
            <a:r>
              <a:rPr lang="en-US" sz="1800" spc="-5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complete</a:t>
            </a:r>
            <a:r>
              <a:rPr lang="en-US" sz="1800" spc="-4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digital</a:t>
            </a:r>
            <a:r>
              <a:rPr lang="en-US" sz="1800" spc="-4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traceability</a:t>
            </a:r>
            <a:r>
              <a:rPr lang="en-US" sz="1800" spc="-45"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of</a:t>
            </a:r>
            <a:r>
              <a:rPr lang="en-US" sz="1800" spc="-40" dirty="0">
                <a:effectLst/>
                <a:latin typeface="Calibri" panose="020F0502020204030204" pitchFamily="34" charset="0"/>
                <a:ea typeface="Symbol" panose="05050102010706020507" pitchFamily="18" charset="2"/>
                <a:cs typeface="Symbol" panose="05050102010706020507" pitchFamily="18" charset="2"/>
              </a:rPr>
              <a:t> </a:t>
            </a:r>
            <a:r>
              <a:rPr lang="en-US" sz="1800" spc="0" dirty="0">
                <a:effectLst/>
                <a:latin typeface="Calibri" panose="020F0502020204030204" pitchFamily="34" charset="0"/>
                <a:ea typeface="Symbol" panose="05050102010706020507" pitchFamily="18" charset="2"/>
                <a:cs typeface="Symbol" panose="05050102010706020507" pitchFamily="18" charset="2"/>
              </a:rPr>
              <a:t>driver</a:t>
            </a:r>
            <a:r>
              <a:rPr lang="en-US" sz="1800" spc="-40" dirty="0">
                <a:effectLst/>
                <a:latin typeface="Calibri" panose="020F0502020204030204" pitchFamily="34" charset="0"/>
                <a:ea typeface="Symbol" panose="05050102010706020507" pitchFamily="18" charset="2"/>
                <a:cs typeface="Symbol" panose="05050102010706020507" pitchFamily="18" charset="2"/>
              </a:rPr>
              <a:t> </a:t>
            </a:r>
            <a:r>
              <a:rPr lang="en-US" sz="1800" spc="-10" dirty="0">
                <a:effectLst/>
                <a:latin typeface="Calibri" panose="020F0502020204030204" pitchFamily="34" charset="0"/>
                <a:ea typeface="Symbol" panose="05050102010706020507" pitchFamily="18" charset="2"/>
                <a:cs typeface="Symbol" panose="05050102010706020507" pitchFamily="18" charset="2"/>
              </a:rPr>
              <a:t>records.</a:t>
            </a:r>
            <a:endParaRPr lang="en-US" sz="1400" spc="0" dirty="0">
              <a:effectLst/>
              <a:latin typeface="Calibri" panose="020F0502020204030204" pitchFamily="34" charset="0"/>
              <a:ea typeface="Symbol" panose="05050102010706020507" pitchFamily="18" charset="2"/>
              <a:cs typeface="Symbol" panose="05050102010706020507" pitchFamily="18" charset="2"/>
            </a:endParaRPr>
          </a:p>
          <a:p>
            <a:pPr marL="0" marR="0">
              <a:buNone/>
            </a:pPr>
            <a:r>
              <a:rPr lang="en-US" sz="1800" dirty="0">
                <a:effectLst/>
                <a:latin typeface="Calibri" panose="020F0502020204030204" pitchFamily="34" charset="0"/>
                <a:ea typeface="Calibri" panose="020F0502020204030204" pitchFamily="34" charset="0"/>
              </a:rPr>
              <a:t> </a:t>
            </a:r>
            <a:endParaRPr lang="en-US" sz="16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9396095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0DAF53-8ED8-4606-C20D-F870C8B2D19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6EA71F62-811A-8900-9385-8262A110D30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96000" y="0"/>
            <a:ext cx="4334470" cy="6858000"/>
          </a:xfrm>
          <a:prstGeom prst="rect">
            <a:avLst/>
          </a:prstGeom>
        </p:spPr>
      </p:pic>
      <p:sp>
        <p:nvSpPr>
          <p:cNvPr id="2" name="TextBox 1"/>
          <p:cNvSpPr txBox="1"/>
          <p:nvPr/>
        </p:nvSpPr>
        <p:spPr>
          <a:xfrm>
            <a:off x="180109" y="263236"/>
            <a:ext cx="5763491" cy="2031325"/>
          </a:xfrm>
          <a:prstGeom prst="rect">
            <a:avLst/>
          </a:prstGeom>
          <a:noFill/>
        </p:spPr>
        <p:txBody>
          <a:bodyPr wrap="square" rtlCol="0">
            <a:spAutoFit/>
          </a:bodyPr>
          <a:lstStyle/>
          <a:p>
            <a:r>
              <a:rPr lang="en-US" b="1" dirty="0"/>
              <a:t>Gate Out Page (</a:t>
            </a:r>
            <a:r>
              <a:rPr lang="en-US" b="1" dirty="0" err="1"/>
              <a:t>गेट</a:t>
            </a:r>
            <a:r>
              <a:rPr lang="en-US" b="1" dirty="0"/>
              <a:t> </a:t>
            </a:r>
            <a:r>
              <a:rPr lang="en-US" b="1" dirty="0" err="1"/>
              <a:t>आऊट</a:t>
            </a:r>
            <a:r>
              <a:rPr lang="en-US" b="1" dirty="0"/>
              <a:t> </a:t>
            </a:r>
            <a:r>
              <a:rPr lang="en-US" b="1" dirty="0" err="1"/>
              <a:t>पेज</a:t>
            </a:r>
            <a:r>
              <a:rPr lang="en-US" b="1" dirty="0" smtClean="0"/>
              <a:t>):</a:t>
            </a:r>
          </a:p>
          <a:p>
            <a:endParaRPr lang="en-US" dirty="0"/>
          </a:p>
          <a:p>
            <a:r>
              <a:rPr lang="hi-IN" dirty="0"/>
              <a:t>जेव्हा वापरकर्ता </a:t>
            </a:r>
            <a:r>
              <a:rPr lang="en-IN" dirty="0"/>
              <a:t>Vehicle Exit </a:t>
            </a:r>
            <a:r>
              <a:rPr lang="hi-IN" dirty="0"/>
              <a:t>बटणावर क्लिक करतो, तेव्हा प्लांटमध्ये प्रवेश केलेल्या सर्व वाहनांची यादी स्क्रीनवर दर्शविली जाते.</a:t>
            </a:r>
            <a:br>
              <a:rPr lang="hi-IN" dirty="0"/>
            </a:br>
            <a:r>
              <a:rPr lang="hi-IN" dirty="0"/>
              <a:t>वापरकर्ता शोध फील्डमध्ये विशिष्ट वाहन क्रमांक प्रविष्ट करून आवश्यक वाहन लवकर शोधू शकतो.</a:t>
            </a:r>
            <a:endParaRPr lang="en-IN" dirty="0"/>
          </a:p>
        </p:txBody>
      </p:sp>
      <p:sp>
        <p:nvSpPr>
          <p:cNvPr id="3" name="TextBox 2"/>
          <p:cNvSpPr txBox="1"/>
          <p:nvPr/>
        </p:nvSpPr>
        <p:spPr>
          <a:xfrm>
            <a:off x="180109" y="2854036"/>
            <a:ext cx="5763491" cy="3693319"/>
          </a:xfrm>
          <a:prstGeom prst="rect">
            <a:avLst/>
          </a:prstGeom>
          <a:noFill/>
        </p:spPr>
        <p:txBody>
          <a:bodyPr wrap="square" rtlCol="0">
            <a:spAutoFit/>
          </a:bodyPr>
          <a:lstStyle/>
          <a:p>
            <a:r>
              <a:rPr lang="en-IN" b="1" dirty="0"/>
              <a:t>Details Page </a:t>
            </a:r>
            <a:r>
              <a:rPr lang="hi-IN" b="1" dirty="0"/>
              <a:t>चे फायदे</a:t>
            </a:r>
            <a:r>
              <a:rPr lang="hi-IN" b="1" dirty="0" smtClean="0"/>
              <a:t>:</a:t>
            </a:r>
            <a:endParaRPr lang="en-US" b="1" dirty="0" smtClean="0"/>
          </a:p>
          <a:p>
            <a:endParaRPr lang="hi-IN" b="1" dirty="0"/>
          </a:p>
          <a:p>
            <a:pPr marL="285750" indent="-285750">
              <a:buFont typeface="Arial" panose="020B0604020202020204" pitchFamily="34" charset="0"/>
              <a:buChar char="•"/>
            </a:pPr>
            <a:r>
              <a:rPr lang="hi-IN" dirty="0"/>
              <a:t>फक्त वैध परवाना असलेल्या चालकांचीच प्रक्रिया सुनिश्चित होते</a:t>
            </a:r>
            <a:r>
              <a:rPr lang="hi-IN" dirty="0" smtClean="0"/>
              <a:t>.</a:t>
            </a:r>
            <a:endParaRPr lang="en-US" dirty="0" smtClean="0"/>
          </a:p>
          <a:p>
            <a:endParaRPr lang="hi-IN" dirty="0"/>
          </a:p>
          <a:p>
            <a:pPr marL="285750" indent="-285750">
              <a:buFont typeface="Arial" panose="020B0604020202020204" pitchFamily="34" charset="0"/>
              <a:buChar char="•"/>
            </a:pPr>
            <a:r>
              <a:rPr lang="en-IN" dirty="0"/>
              <a:t>OCR </a:t>
            </a:r>
            <a:r>
              <a:rPr lang="hi-IN" dirty="0"/>
              <a:t>आणि प्रतिमा अपलोडच्या मदतीने परवाना कॅप्चर प्रक्रिया सोपी व जलद होते</a:t>
            </a:r>
            <a:r>
              <a:rPr lang="hi-IN" dirty="0" smtClean="0"/>
              <a:t>.</a:t>
            </a:r>
            <a:endParaRPr lang="en-US" dirty="0" smtClean="0"/>
          </a:p>
          <a:p>
            <a:endParaRPr lang="hi-IN" dirty="0"/>
          </a:p>
          <a:p>
            <a:pPr marL="285750" indent="-285750">
              <a:buFont typeface="Arial" panose="020B0604020202020204" pitchFamily="34" charset="0"/>
              <a:buChar char="•"/>
            </a:pPr>
            <a:r>
              <a:rPr lang="en-IN" dirty="0"/>
              <a:t>OCR </a:t>
            </a:r>
            <a:r>
              <a:rPr lang="hi-IN" dirty="0"/>
              <a:t>मधून चुकीची किंवा न जुळणारी माहिती मिळाल्यास मॅन्युअल दुरुस्ती करण्याची सुविधा उपलब्ध आहे</a:t>
            </a:r>
            <a:r>
              <a:rPr lang="hi-IN" dirty="0" smtClean="0"/>
              <a:t>.</a:t>
            </a:r>
            <a:endParaRPr lang="en-US" dirty="0" smtClean="0"/>
          </a:p>
          <a:p>
            <a:endParaRPr lang="hi-IN" dirty="0"/>
          </a:p>
          <a:p>
            <a:pPr marL="285750" indent="-285750">
              <a:buFont typeface="Arial" panose="020B0604020202020204" pitchFamily="34" charset="0"/>
              <a:buChar char="•"/>
            </a:pPr>
            <a:r>
              <a:rPr lang="hi-IN" dirty="0"/>
              <a:t>चालकांच्या नोंदींची पूर्ण डिजिटल ट्रेसिबिलिटी मिळते.</a:t>
            </a:r>
          </a:p>
          <a:p>
            <a:endParaRPr lang="en-IN" dirty="0"/>
          </a:p>
        </p:txBody>
      </p:sp>
    </p:spTree>
    <p:extLst>
      <p:ext uri="{BB962C8B-B14F-4D97-AF65-F5344CB8AC3E}">
        <p14:creationId xmlns:p14="http://schemas.microsoft.com/office/powerpoint/2010/main" val="7685988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3BD87-F801-E8F8-CFC7-FB94E7FCA9F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8A6868C7-7BBF-BDC7-0359-E4139BF083A1}"/>
              </a:ext>
            </a:extLst>
          </p:cNvPr>
          <p:cNvSpPr txBox="1"/>
          <p:nvPr/>
        </p:nvSpPr>
        <p:spPr>
          <a:xfrm>
            <a:off x="105897" y="685490"/>
            <a:ext cx="3159177" cy="523220"/>
          </a:xfrm>
          <a:prstGeom prst="rect">
            <a:avLst/>
          </a:prstGeom>
          <a:noFill/>
        </p:spPr>
        <p:txBody>
          <a:bodyPr wrap="square">
            <a:spAutoFit/>
          </a:bodyPr>
          <a:lstStyle/>
          <a:p>
            <a:r>
              <a:rPr lang="en-GB" sz="2800" dirty="0">
                <a:latin typeface="Times New Roman" panose="02020603050405020304" pitchFamily="18" charset="0"/>
                <a:ea typeface="+mj-ea"/>
                <a:cs typeface="Times New Roman" panose="02020603050405020304" pitchFamily="18" charset="0"/>
              </a:rPr>
              <a:t>Gate Out Page</a:t>
            </a:r>
            <a:endParaRPr lang="en-IN" sz="2800" dirty="0">
              <a:latin typeface="Times New Roman" panose="02020603050405020304" pitchFamily="18" charset="0"/>
              <a:ea typeface="+mj-ea"/>
              <a:cs typeface="Times New Roman" panose="02020603050405020304" pitchFamily="18" charset="0"/>
            </a:endParaRPr>
          </a:p>
        </p:txBody>
      </p:sp>
      <p:pic>
        <p:nvPicPr>
          <p:cNvPr id="4" name="Picture 3">
            <a:extLst>
              <a:ext uri="{FF2B5EF4-FFF2-40B4-BE49-F238E27FC236}">
                <a16:creationId xmlns:a16="http://schemas.microsoft.com/office/drawing/2014/main" id="{9331888F-C091-99AC-61DA-13EF9961DC2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501603" y="0"/>
            <a:ext cx="1690397" cy="685490"/>
          </a:xfrm>
          <a:prstGeom prst="rect">
            <a:avLst/>
          </a:prstGeom>
        </p:spPr>
      </p:pic>
      <p:pic>
        <p:nvPicPr>
          <p:cNvPr id="5" name="Picture 4">
            <a:extLst>
              <a:ext uri="{FF2B5EF4-FFF2-40B4-BE49-F238E27FC236}">
                <a16:creationId xmlns:a16="http://schemas.microsoft.com/office/drawing/2014/main" id="{F4A1933D-669A-9887-28C4-B18062B7DD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81212" cy="685896"/>
          </a:xfrm>
          <a:prstGeom prst="rect">
            <a:avLst/>
          </a:prstGeom>
        </p:spPr>
      </p:pic>
      <p:pic>
        <p:nvPicPr>
          <p:cNvPr id="6" name="Picture 5">
            <a:extLst>
              <a:ext uri="{FF2B5EF4-FFF2-40B4-BE49-F238E27FC236}">
                <a16:creationId xmlns:a16="http://schemas.microsoft.com/office/drawing/2014/main" id="{EF691CFB-1CFD-E0F0-F733-86ED64AF346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054631" y="0"/>
            <a:ext cx="4377333" cy="6858000"/>
          </a:xfrm>
          <a:prstGeom prst="rect">
            <a:avLst/>
          </a:prstGeom>
        </p:spPr>
      </p:pic>
      <p:sp>
        <p:nvSpPr>
          <p:cNvPr id="7" name="TextBox 6">
            <a:extLst>
              <a:ext uri="{FF2B5EF4-FFF2-40B4-BE49-F238E27FC236}">
                <a16:creationId xmlns:a16="http://schemas.microsoft.com/office/drawing/2014/main" id="{35BFB278-046A-4F0A-EF48-DBDF54212C04}"/>
              </a:ext>
            </a:extLst>
          </p:cNvPr>
          <p:cNvSpPr txBox="1"/>
          <p:nvPr/>
        </p:nvSpPr>
        <p:spPr>
          <a:xfrm>
            <a:off x="256055" y="1453579"/>
            <a:ext cx="5839945" cy="4154984"/>
          </a:xfrm>
          <a:prstGeom prst="rect">
            <a:avLst/>
          </a:prstGeom>
          <a:noFill/>
        </p:spPr>
        <p:txBody>
          <a:bodyPr wrap="square">
            <a:spAutoFit/>
          </a:bodyPr>
          <a:lstStyle/>
          <a:p>
            <a:pPr marL="342900" indent="-342900">
              <a:buFont typeface="Arial" panose="020B0604020202020204" pitchFamily="34" charset="0"/>
              <a:buChar char="•"/>
            </a:pPr>
            <a:r>
              <a:rPr lang="en-US" sz="2400" dirty="0"/>
              <a:t>Before a vehicle can be marked as exited, the user must complete all required actions and validations in the system. </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r>
              <a:rPr lang="en-US" sz="2400" dirty="0"/>
              <a:t>The application displays the list of actions and the location where the vehicle entered. Only after completing all activities end-to-end will the Exit option be enabled. This ensures accurate tracking and prevents incomplete records to proceed Vehicle Exit</a:t>
            </a:r>
            <a:endParaRPr lang="en-IN" sz="2400" dirty="0">
              <a:latin typeface="Times New Roman" panose="02020603050405020304" pitchFamily="18" charset="0"/>
              <a:ea typeface="+mj-ea"/>
              <a:cs typeface="Times New Roman" panose="02020603050405020304" pitchFamily="18" charset="0"/>
            </a:endParaRPr>
          </a:p>
        </p:txBody>
      </p:sp>
    </p:spTree>
    <p:extLst>
      <p:ext uri="{BB962C8B-B14F-4D97-AF65-F5344CB8AC3E}">
        <p14:creationId xmlns:p14="http://schemas.microsoft.com/office/powerpoint/2010/main" val="22790587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AC228B-5100-5135-FC26-E9ADD0DE49A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601CDF0-D7BD-2C43-0E9E-F5E8755DB6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54631" y="0"/>
            <a:ext cx="4377333" cy="6858000"/>
          </a:xfrm>
          <a:prstGeom prst="rect">
            <a:avLst/>
          </a:prstGeom>
        </p:spPr>
      </p:pic>
      <p:sp>
        <p:nvSpPr>
          <p:cNvPr id="2" name="TextBox 1"/>
          <p:cNvSpPr txBox="1"/>
          <p:nvPr/>
        </p:nvSpPr>
        <p:spPr>
          <a:xfrm>
            <a:off x="304800" y="415636"/>
            <a:ext cx="5403273" cy="3416320"/>
          </a:xfrm>
          <a:prstGeom prst="rect">
            <a:avLst/>
          </a:prstGeom>
          <a:noFill/>
        </p:spPr>
        <p:txBody>
          <a:bodyPr wrap="square" rtlCol="0">
            <a:spAutoFit/>
          </a:bodyPr>
          <a:lstStyle/>
          <a:p>
            <a:r>
              <a:rPr lang="en-US" b="1" dirty="0"/>
              <a:t>Gate Out Page (</a:t>
            </a:r>
            <a:r>
              <a:rPr lang="en-US" b="1" dirty="0" err="1"/>
              <a:t>गेट</a:t>
            </a:r>
            <a:r>
              <a:rPr lang="en-US" b="1" dirty="0"/>
              <a:t> </a:t>
            </a:r>
            <a:r>
              <a:rPr lang="en-US" b="1" dirty="0" err="1"/>
              <a:t>आऊट</a:t>
            </a:r>
            <a:r>
              <a:rPr lang="en-US" b="1" dirty="0"/>
              <a:t> </a:t>
            </a:r>
            <a:r>
              <a:rPr lang="en-US" b="1" dirty="0" err="1"/>
              <a:t>पेज</a:t>
            </a:r>
            <a:r>
              <a:rPr lang="en-US" b="1" dirty="0" smtClean="0"/>
              <a:t>)</a:t>
            </a:r>
          </a:p>
          <a:p>
            <a:endParaRPr lang="en-US" dirty="0"/>
          </a:p>
          <a:p>
            <a:pPr marL="285750" indent="-285750">
              <a:buFont typeface="Arial" panose="020B0604020202020204" pitchFamily="34" charset="0"/>
              <a:buChar char="•"/>
            </a:pPr>
            <a:r>
              <a:rPr lang="hi-IN" dirty="0"/>
              <a:t>वाहनाला </a:t>
            </a:r>
            <a:r>
              <a:rPr lang="en-IN" dirty="0"/>
              <a:t>Exit </a:t>
            </a:r>
            <a:r>
              <a:rPr lang="hi-IN" dirty="0"/>
              <a:t>म्हणून मार्क करण्यापूर्वी, वापरकर्त्याने सिस्टममधील सर्व आवश्यक कृती आणि पडताळण्या पूर्ण करणे अनिवार्य आहे</a:t>
            </a:r>
            <a:r>
              <a:rPr lang="hi-IN" dirty="0" smtClean="0"/>
              <a:t>.</a:t>
            </a:r>
            <a:endParaRPr lang="en-US" dirty="0" smtClean="0"/>
          </a:p>
          <a:p>
            <a:endParaRPr lang="hi-IN" dirty="0"/>
          </a:p>
          <a:p>
            <a:pPr marL="285750" indent="-285750">
              <a:buFont typeface="Arial" panose="020B0604020202020204" pitchFamily="34" charset="0"/>
              <a:buChar char="•"/>
            </a:pPr>
            <a:r>
              <a:rPr lang="hi-IN" dirty="0"/>
              <a:t>अ‍ॅप्लिकेशन वाहनाने कोणत्या लोकेशनमधून प्रवेश केला आणि कोणत्या क्रिया बाकी आहेत याची यादी दर्शवते.</a:t>
            </a:r>
            <a:br>
              <a:rPr lang="hi-IN" dirty="0"/>
            </a:br>
            <a:r>
              <a:rPr lang="hi-IN" dirty="0"/>
              <a:t>सर्व प्रक्रिया एंड-टू-एंड पूर्ण झाल्यानंतरच </a:t>
            </a:r>
            <a:r>
              <a:rPr lang="en-IN" dirty="0"/>
              <a:t>Exit </a:t>
            </a:r>
            <a:r>
              <a:rPr lang="hi-IN" dirty="0"/>
              <a:t>पर्याय सक्षम केला </a:t>
            </a:r>
            <a:r>
              <a:rPr lang="hi-IN" dirty="0" smtClean="0"/>
              <a:t>जातो.</a:t>
            </a:r>
            <a:r>
              <a:rPr lang="en-US" dirty="0" smtClean="0"/>
              <a:t> </a:t>
            </a:r>
            <a:r>
              <a:rPr lang="hi-IN" dirty="0" smtClean="0"/>
              <a:t>यामुळे वाहनांची अचूक ट्रॅकिंग होते आणि अपूर्ण नोंदींसह वाहन </a:t>
            </a:r>
            <a:r>
              <a:rPr lang="en-IN" dirty="0" smtClean="0"/>
              <a:t>Exit </a:t>
            </a:r>
            <a:r>
              <a:rPr lang="hi-IN" dirty="0" smtClean="0"/>
              <a:t>होण्यापासून प्रतिबंध होतो.</a:t>
            </a:r>
          </a:p>
          <a:p>
            <a:endParaRPr lang="en-IN" dirty="0"/>
          </a:p>
        </p:txBody>
      </p:sp>
    </p:spTree>
    <p:extLst>
      <p:ext uri="{BB962C8B-B14F-4D97-AF65-F5344CB8AC3E}">
        <p14:creationId xmlns:p14="http://schemas.microsoft.com/office/powerpoint/2010/main" val="33569999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222B8-33D3-2E70-F1F0-8A1AFD8A86D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59ADFC45-AB7C-90A0-7B56-3C19ACB98B5B}"/>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0501603" y="0"/>
            <a:ext cx="1690397" cy="685490"/>
          </a:xfrm>
          <a:prstGeom prst="rect">
            <a:avLst/>
          </a:prstGeom>
        </p:spPr>
      </p:pic>
      <p:pic>
        <p:nvPicPr>
          <p:cNvPr id="5" name="Picture 4">
            <a:extLst>
              <a:ext uri="{FF2B5EF4-FFF2-40B4-BE49-F238E27FC236}">
                <a16:creationId xmlns:a16="http://schemas.microsoft.com/office/drawing/2014/main" id="{BF0A283C-0A5B-EEFE-3187-A4D14D6652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981212" cy="685896"/>
          </a:xfrm>
          <a:prstGeom prst="rect">
            <a:avLst/>
          </a:prstGeom>
        </p:spPr>
      </p:pic>
      <p:sp>
        <p:nvSpPr>
          <p:cNvPr id="2" name="TextBox 1">
            <a:extLst>
              <a:ext uri="{FF2B5EF4-FFF2-40B4-BE49-F238E27FC236}">
                <a16:creationId xmlns:a16="http://schemas.microsoft.com/office/drawing/2014/main" id="{6FBEA0DC-D89A-A031-3F4D-7285B113E3A3}"/>
              </a:ext>
            </a:extLst>
          </p:cNvPr>
          <p:cNvSpPr txBox="1"/>
          <p:nvPr/>
        </p:nvSpPr>
        <p:spPr>
          <a:xfrm>
            <a:off x="3176027" y="3198167"/>
            <a:ext cx="5839945" cy="461665"/>
          </a:xfrm>
          <a:prstGeom prst="rect">
            <a:avLst/>
          </a:prstGeom>
          <a:noFill/>
        </p:spPr>
        <p:txBody>
          <a:bodyPr wrap="square">
            <a:spAutoFit/>
          </a:bodyPr>
          <a:lstStyle/>
          <a:p>
            <a:pPr algn="ctr"/>
            <a:r>
              <a:rPr lang="en-US" sz="2400" dirty="0"/>
              <a:t>THANK YOU</a:t>
            </a:r>
            <a:endParaRPr lang="en-IN" sz="2400" b="1" dirty="0">
              <a:latin typeface="Times New Roman" panose="02020603050405020304" pitchFamily="18" charset="0"/>
              <a:ea typeface="+mj-ea"/>
              <a:cs typeface="Times New Roman" panose="02020603050405020304" pitchFamily="18" charset="0"/>
            </a:endParaRPr>
          </a:p>
        </p:txBody>
      </p:sp>
      <p:sp>
        <p:nvSpPr>
          <p:cNvPr id="3" name="TextBox 2">
            <a:extLst>
              <a:ext uri="{FF2B5EF4-FFF2-40B4-BE49-F238E27FC236}">
                <a16:creationId xmlns:a16="http://schemas.microsoft.com/office/drawing/2014/main" id="{79C4599A-16FE-CC0D-CF7C-7EFE040A5430}"/>
              </a:ext>
            </a:extLst>
          </p:cNvPr>
          <p:cNvSpPr txBox="1"/>
          <p:nvPr/>
        </p:nvSpPr>
        <p:spPr>
          <a:xfrm>
            <a:off x="0" y="5705856"/>
            <a:ext cx="12192000" cy="1107996"/>
          </a:xfrm>
          <a:prstGeom prst="rect">
            <a:avLst/>
          </a:prstGeom>
          <a:noFill/>
        </p:spPr>
        <p:txBody>
          <a:bodyPr wrap="square">
            <a:spAutoFit/>
          </a:bodyPr>
          <a:lstStyle/>
          <a:p>
            <a:pPr algn="r"/>
            <a:endParaRPr dirty="0"/>
          </a:p>
          <a:p>
            <a:pPr>
              <a:defRPr sz="1600">
                <a:solidFill>
                  <a:srgbClr val="505050"/>
                </a:solidFill>
              </a:defRPr>
            </a:pPr>
            <a:r>
              <a:rPr dirty="0"/>
              <a:t>Prepared By: CHANDRU</a:t>
            </a:r>
            <a:r>
              <a:rPr lang="en-US" dirty="0"/>
              <a:t> </a:t>
            </a:r>
            <a:r>
              <a:rPr dirty="0"/>
              <a:t/>
            </a:r>
            <a:br>
              <a:rPr dirty="0"/>
            </a:br>
            <a:r>
              <a:rPr dirty="0"/>
              <a:t>Team: Catnip Infotech Private Limited</a:t>
            </a:r>
            <a:br>
              <a:rPr dirty="0"/>
            </a:br>
            <a:r>
              <a:rPr dirty="0"/>
              <a:t>Version: v1.0 | Last Updated: 2</a:t>
            </a:r>
            <a:r>
              <a:rPr lang="en-US" dirty="0"/>
              <a:t>9</a:t>
            </a:r>
            <a:r>
              <a:rPr dirty="0"/>
              <a:t>/09/2025</a:t>
            </a:r>
          </a:p>
        </p:txBody>
      </p:sp>
    </p:spTree>
    <p:extLst>
      <p:ext uri="{BB962C8B-B14F-4D97-AF65-F5344CB8AC3E}">
        <p14:creationId xmlns:p14="http://schemas.microsoft.com/office/powerpoint/2010/main" val="3568985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10007</TotalTime>
  <Words>1085</Words>
  <Application>Microsoft Office PowerPoint</Application>
  <PresentationFormat>Widescreen</PresentationFormat>
  <Paragraphs>165</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Calibri Light</vt:lpstr>
      <vt:lpstr>Courier New</vt:lpstr>
      <vt:lpstr>Mangal</vt:lpstr>
      <vt:lpstr>Symbol</vt:lpstr>
      <vt:lpstr>Times New Roman</vt:lpstr>
      <vt:lpstr>Wingdings</vt:lpstr>
      <vt:lpstr>Office Theme</vt:lpstr>
      <vt:lpstr>USER MANUAL DOCUMENT Module - Pravesh Application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USER MANUAL DOCUMENT Module - Pravesh Application</dc:title>
  <dc:creator>Chandru P</dc:creator>
  <cp:lastModifiedBy>LENOVO1</cp:lastModifiedBy>
  <cp:revision>82</cp:revision>
  <dcterms:created xsi:type="dcterms:W3CDTF">2025-09-22T11:02:54Z</dcterms:created>
  <dcterms:modified xsi:type="dcterms:W3CDTF">2025-11-20T10:29:49Z</dcterms:modified>
</cp:coreProperties>
</file>